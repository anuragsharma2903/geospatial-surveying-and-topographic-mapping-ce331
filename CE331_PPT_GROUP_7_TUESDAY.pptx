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7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8288000" cy="10287000"/>
  <p:notesSz cx="6858000" cy="9144000"/>
  <p:embeddedFontLst>
    <p:embeddedFont>
      <p:font typeface="Assistant" pitchFamily="2" charset="-79"/>
      <p:regular r:id="rId23"/>
    </p:embeddedFont>
    <p:embeddedFont>
      <p:font typeface="Assistant Bold" charset="-79"/>
      <p:regular r:id="rId24"/>
    </p:embeddedFont>
    <p:embeddedFont>
      <p:font typeface="Roca One"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09" autoAdjust="0"/>
    <p:restoredTop sz="94622" autoAdjust="0"/>
  </p:normalViewPr>
  <p:slideViewPr>
    <p:cSldViewPr>
      <p:cViewPr>
        <p:scale>
          <a:sx n="24" d="100"/>
          <a:sy n="24" d="100"/>
        </p:scale>
        <p:origin x="2052" y="5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6D1C86-4FB5-4485-AE72-9C167B98FEE9}" type="datetimeFigureOut">
              <a:rPr lang="en-IN" smtClean="0"/>
              <a:t>10-11-2025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2A47F8-6EDF-45B8-A816-F9B9A2B3F26C}" type="slidenum">
              <a:rPr lang="en-IN" smtClean="0"/>
              <a:t>‹#›</a:t>
            </a:fld>
            <a:endParaRPr lang="en-IN"/>
          </a:p>
        </p:txBody>
      </p:sp>
    </p:spTree>
    <p:extLst>
      <p:ext uri="{BB962C8B-B14F-4D97-AF65-F5344CB8AC3E}">
        <p14:creationId xmlns:p14="http://schemas.microsoft.com/office/powerpoint/2010/main" val="216611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0F991-7E97-BF97-CCCE-91F51D60F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76E70-8F6B-69DD-9E14-788B2E694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D98BA2-3198-A185-9B25-8355FE13E7E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A7B9DE-249F-EBEF-529A-7989C61394B0}"/>
              </a:ext>
            </a:extLst>
          </p:cNvPr>
          <p:cNvSpPr>
            <a:spLocks noGrp="1"/>
          </p:cNvSpPr>
          <p:nvPr>
            <p:ph type="sldNum" sz="quarter" idx="5"/>
          </p:nvPr>
        </p:nvSpPr>
        <p:spPr/>
        <p:txBody>
          <a:bodyPr/>
          <a:lstStyle/>
          <a:p>
            <a:fld id="{EC2A47F8-6EDF-45B8-A816-F9B9A2B3F26C}" type="slidenum">
              <a:rPr lang="en-IN" smtClean="0"/>
              <a:t>1</a:t>
            </a:fld>
            <a:endParaRPr lang="en-IN"/>
          </a:p>
        </p:txBody>
      </p:sp>
    </p:spTree>
    <p:extLst>
      <p:ext uri="{BB962C8B-B14F-4D97-AF65-F5344CB8AC3E}">
        <p14:creationId xmlns:p14="http://schemas.microsoft.com/office/powerpoint/2010/main" val="1298866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2A47F8-6EDF-45B8-A816-F9B9A2B3F26C}" type="slidenum">
              <a:rPr lang="en-IN" smtClean="0"/>
              <a:t>16</a:t>
            </a:fld>
            <a:endParaRPr lang="en-IN"/>
          </a:p>
        </p:txBody>
      </p:sp>
    </p:spTree>
    <p:extLst>
      <p:ext uri="{BB962C8B-B14F-4D97-AF65-F5344CB8AC3E}">
        <p14:creationId xmlns:p14="http://schemas.microsoft.com/office/powerpoint/2010/main" val="262452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5C3A-E01E-271F-6C7F-36FBDA5F2D74}"/>
            </a:ext>
          </a:extLst>
        </p:cNvPr>
        <p:cNvGrpSpPr/>
        <p:nvPr/>
      </p:nvGrpSpPr>
      <p:grpSpPr>
        <a:xfrm>
          <a:off x="0" y="0"/>
          <a:ext cx="0" cy="0"/>
          <a:chOff x="0" y="0"/>
          <a:chExt cx="0" cy="0"/>
        </a:xfrm>
      </p:grpSpPr>
      <p:sp>
        <p:nvSpPr>
          <p:cNvPr id="25" name="Freeform 2">
            <a:extLst>
              <a:ext uri="{FF2B5EF4-FFF2-40B4-BE49-F238E27FC236}">
                <a16:creationId xmlns:a16="http://schemas.microsoft.com/office/drawing/2014/main" id="{8000AF67-9E2A-5219-8D82-85196260AD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5597" r="-15597"/>
            </a:stretch>
          </a:blipFill>
        </p:spPr>
        <p:txBody>
          <a:bodyPr/>
          <a:lstStyle/>
          <a:p>
            <a:endParaRPr lang="en-IN" dirty="0"/>
          </a:p>
        </p:txBody>
      </p:sp>
      <p:grpSp>
        <p:nvGrpSpPr>
          <p:cNvPr id="3" name="Group 3">
            <a:extLst>
              <a:ext uri="{FF2B5EF4-FFF2-40B4-BE49-F238E27FC236}">
                <a16:creationId xmlns:a16="http://schemas.microsoft.com/office/drawing/2014/main" id="{84D194BF-2E6A-C349-06D7-09589615E648}"/>
              </a:ext>
            </a:extLst>
          </p:cNvPr>
          <p:cNvGrpSpPr/>
          <p:nvPr/>
        </p:nvGrpSpPr>
        <p:grpSpPr>
          <a:xfrm>
            <a:off x="-235271" y="4565874"/>
            <a:ext cx="5902101" cy="7974702"/>
            <a:chOff x="0" y="0"/>
            <a:chExt cx="7869467" cy="10632936"/>
          </a:xfrm>
        </p:grpSpPr>
        <p:sp>
          <p:nvSpPr>
            <p:cNvPr id="4" name="Freeform 4">
              <a:extLst>
                <a:ext uri="{FF2B5EF4-FFF2-40B4-BE49-F238E27FC236}">
                  <a16:creationId xmlns:a16="http://schemas.microsoft.com/office/drawing/2014/main" id="{579DE390-D447-0B2B-E981-0B370FB4A2C3}"/>
                </a:ext>
              </a:extLst>
            </p:cNvPr>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FF2B5EF4-FFF2-40B4-BE49-F238E27FC236}">
                  <a16:creationId xmlns:a16="http://schemas.microsoft.com/office/drawing/2014/main" id="{F3A3EC02-D794-843C-F1D9-6978008986F2}"/>
                </a:ext>
              </a:extLst>
            </p:cNvPr>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grpSp>
        <p:nvGrpSpPr>
          <p:cNvPr id="6" name="Group 6">
            <a:extLst>
              <a:ext uri="{FF2B5EF4-FFF2-40B4-BE49-F238E27FC236}">
                <a16:creationId xmlns:a16="http://schemas.microsoft.com/office/drawing/2014/main" id="{DBD17B4B-9D3B-02F1-CB0B-B7BE9C812406}"/>
              </a:ext>
            </a:extLst>
          </p:cNvPr>
          <p:cNvGrpSpPr/>
          <p:nvPr/>
        </p:nvGrpSpPr>
        <p:grpSpPr>
          <a:xfrm rot="-10800000">
            <a:off x="12385899" y="-2268953"/>
            <a:ext cx="5902101" cy="7974702"/>
            <a:chOff x="0" y="0"/>
            <a:chExt cx="7869467" cy="10632936"/>
          </a:xfrm>
        </p:grpSpPr>
        <p:sp>
          <p:nvSpPr>
            <p:cNvPr id="7" name="Freeform 7">
              <a:extLst>
                <a:ext uri="{FF2B5EF4-FFF2-40B4-BE49-F238E27FC236}">
                  <a16:creationId xmlns:a16="http://schemas.microsoft.com/office/drawing/2014/main" id="{CBC60ABC-9465-8E87-2F7F-467E43A3ABF4}"/>
                </a:ext>
              </a:extLst>
            </p:cNvPr>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063484A2-1374-2E29-4A65-B4BDBDC55B45}"/>
                </a:ext>
              </a:extLst>
            </p:cNvPr>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9" name="Freeform 9">
            <a:extLst>
              <a:ext uri="{FF2B5EF4-FFF2-40B4-BE49-F238E27FC236}">
                <a16:creationId xmlns:a16="http://schemas.microsoft.com/office/drawing/2014/main" id="{B323C9B8-F2CD-D374-3F3C-E2558491AB41}"/>
              </a:ext>
            </a:extLst>
          </p:cNvPr>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a:extLst>
              <a:ext uri="{FF2B5EF4-FFF2-40B4-BE49-F238E27FC236}">
                <a16:creationId xmlns:a16="http://schemas.microsoft.com/office/drawing/2014/main" id="{084026AD-0E34-D2BC-69AA-32B40CDD5AA7}"/>
              </a:ext>
            </a:extLst>
          </p:cNvPr>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2">
            <a:extLst>
              <a:ext uri="{FF2B5EF4-FFF2-40B4-BE49-F238E27FC236}">
                <a16:creationId xmlns:a16="http://schemas.microsoft.com/office/drawing/2014/main" id="{51D46B7A-7EA3-E785-E4D3-72ADFFED063C}"/>
              </a:ext>
            </a:extLst>
          </p:cNvPr>
          <p:cNvSpPr txBox="1"/>
          <p:nvPr/>
        </p:nvSpPr>
        <p:spPr>
          <a:xfrm>
            <a:off x="2833415" y="832350"/>
            <a:ext cx="13016185" cy="2166619"/>
          </a:xfrm>
          <a:prstGeom prst="rect">
            <a:avLst/>
          </a:prstGeom>
          <a:noFill/>
        </p:spPr>
        <p:txBody>
          <a:bodyPr wrap="square" rtlCol="0">
            <a:spAutoFit/>
          </a:bodyPr>
          <a:lstStyle/>
          <a:p>
            <a:pPr algn="ctr">
              <a:lnSpc>
                <a:spcPts val="10386"/>
              </a:lnSpc>
            </a:pPr>
            <a:r>
              <a:rPr lang="en-US" sz="5000" dirty="0">
                <a:solidFill>
                  <a:srgbClr val="0D1C38"/>
                </a:solidFill>
                <a:latin typeface="Roca One"/>
                <a:ea typeface="Roca One"/>
                <a:cs typeface="Roca One"/>
                <a:sym typeface="Roca One"/>
              </a:rPr>
              <a:t> CE331 GROUP PROJECT </a:t>
            </a:r>
          </a:p>
          <a:p>
            <a:pPr algn="ctr">
              <a:lnSpc>
                <a:spcPts val="6326"/>
              </a:lnSpc>
            </a:pPr>
            <a:r>
              <a:rPr lang="en-US" sz="3500" dirty="0">
                <a:solidFill>
                  <a:srgbClr val="0D1C38"/>
                </a:solidFill>
                <a:latin typeface="Roca One"/>
                <a:ea typeface="Roca One"/>
                <a:cs typeface="Roca One"/>
                <a:sym typeface="Roca One"/>
              </a:rPr>
              <a:t>SURVEYING AND MAPPING OF GI LAB AND ACES BUILDING</a:t>
            </a:r>
            <a:endParaRPr lang="en-IN" sz="3500" dirty="0"/>
          </a:p>
        </p:txBody>
      </p:sp>
      <p:sp>
        <p:nvSpPr>
          <p:cNvPr id="15" name="TextBox 14">
            <a:extLst>
              <a:ext uri="{FF2B5EF4-FFF2-40B4-BE49-F238E27FC236}">
                <a16:creationId xmlns:a16="http://schemas.microsoft.com/office/drawing/2014/main" id="{77C108E0-0E25-0681-79EF-73B4449CB897}"/>
              </a:ext>
            </a:extLst>
          </p:cNvPr>
          <p:cNvSpPr txBox="1"/>
          <p:nvPr/>
        </p:nvSpPr>
        <p:spPr>
          <a:xfrm>
            <a:off x="5974610" y="3915951"/>
            <a:ext cx="5902101" cy="1582741"/>
          </a:xfrm>
          <a:prstGeom prst="rect">
            <a:avLst/>
          </a:prstGeom>
          <a:noFill/>
        </p:spPr>
        <p:txBody>
          <a:bodyPr wrap="square" rtlCol="0">
            <a:spAutoFit/>
          </a:bodyPr>
          <a:lstStyle/>
          <a:p>
            <a:pPr algn="ctr">
              <a:lnSpc>
                <a:spcPts val="3750"/>
              </a:lnSpc>
            </a:pPr>
            <a:r>
              <a:rPr lang="en-US" sz="5000" b="1" spc="56" dirty="0">
                <a:solidFill>
                  <a:srgbClr val="0E182F"/>
                </a:solidFill>
                <a:latin typeface="Times New Roman" panose="02020603050405020304" pitchFamily="18" charset="0"/>
                <a:ea typeface="Assistant Bold"/>
                <a:cs typeface="Times New Roman" panose="02020603050405020304" pitchFamily="18" charset="0"/>
                <a:sym typeface="Assistant Bold"/>
              </a:rPr>
              <a:t>Course Instructor</a:t>
            </a:r>
          </a:p>
          <a:p>
            <a:pPr algn="ctr">
              <a:lnSpc>
                <a:spcPts val="3750"/>
              </a:lnSpc>
            </a:pPr>
            <a:r>
              <a:rPr lang="en-US" sz="5000" b="1" spc="56" dirty="0">
                <a:solidFill>
                  <a:srgbClr val="0E182F"/>
                </a:solidFill>
                <a:latin typeface="Times New Roman" panose="02020603050405020304" pitchFamily="18" charset="0"/>
                <a:ea typeface="Assistant Bold"/>
                <a:cs typeface="Times New Roman" panose="02020603050405020304" pitchFamily="18" charset="0"/>
                <a:sym typeface="Assistant Bold"/>
              </a:rPr>
              <a:t> </a:t>
            </a:r>
          </a:p>
          <a:p>
            <a:pPr algn="ctr">
              <a:lnSpc>
                <a:spcPts val="3750"/>
              </a:lnSpc>
              <a:spcBef>
                <a:spcPct val="0"/>
              </a:spcBef>
            </a:pPr>
            <a:r>
              <a:rPr lang="en-US" sz="5000" spc="56" dirty="0">
                <a:solidFill>
                  <a:srgbClr val="0E182F"/>
                </a:solidFill>
                <a:latin typeface="Times New Roman" panose="02020603050405020304" pitchFamily="18" charset="0"/>
                <a:ea typeface="Assistant"/>
                <a:cs typeface="Times New Roman" panose="02020603050405020304" pitchFamily="18" charset="0"/>
                <a:sym typeface="Assistant"/>
              </a:rPr>
              <a:t>Prof. Salil Goel</a:t>
            </a:r>
          </a:p>
        </p:txBody>
      </p:sp>
      <p:sp>
        <p:nvSpPr>
          <p:cNvPr id="19" name="TextBox 10">
            <a:extLst>
              <a:ext uri="{FF2B5EF4-FFF2-40B4-BE49-F238E27FC236}">
                <a16:creationId xmlns:a16="http://schemas.microsoft.com/office/drawing/2014/main" id="{387AB05C-F69C-D415-9E60-07D3033B2C36}"/>
              </a:ext>
            </a:extLst>
          </p:cNvPr>
          <p:cNvSpPr txBox="1"/>
          <p:nvPr/>
        </p:nvSpPr>
        <p:spPr>
          <a:xfrm>
            <a:off x="9127067" y="4550114"/>
            <a:ext cx="7170590" cy="4877938"/>
          </a:xfrm>
          <a:prstGeom prst="rect">
            <a:avLst/>
          </a:prstGeom>
        </p:spPr>
        <p:txBody>
          <a:bodyPr lIns="0" tIns="0" rIns="0" bIns="0" rtlCol="0" anchor="t">
            <a:spAutoFit/>
          </a:bodyPr>
          <a:lstStyle/>
          <a:p>
            <a:pPr>
              <a:lnSpc>
                <a:spcPts val="3750"/>
              </a:lnSpc>
            </a:pPr>
            <a:endParaRPr lang="en-US" sz="3750" b="1" spc="56" dirty="0">
              <a:solidFill>
                <a:srgbClr val="0E182F"/>
              </a:solidFill>
              <a:latin typeface="Assistant Bold"/>
              <a:ea typeface="Assistant Bold"/>
              <a:cs typeface="Assistant Bold"/>
              <a:sym typeface="Assistant Bold"/>
            </a:endParaRPr>
          </a:p>
          <a:p>
            <a:pPr>
              <a:lnSpc>
                <a:spcPts val="3750"/>
              </a:lnSpc>
            </a:pPr>
            <a:endParaRPr lang="en-US" sz="3750" b="1" spc="56" dirty="0">
              <a:solidFill>
                <a:srgbClr val="0E182F"/>
              </a:solidFill>
              <a:latin typeface="Assistant Bold"/>
              <a:ea typeface="Assistant Bold"/>
              <a:cs typeface="Assistant Bold"/>
              <a:sym typeface="Assistant Bold"/>
            </a:endParaRPr>
          </a:p>
          <a:p>
            <a:pPr>
              <a:lnSpc>
                <a:spcPts val="3750"/>
              </a:lnSpc>
            </a:pPr>
            <a:endParaRPr lang="en-US" sz="3750" b="1" spc="56" dirty="0">
              <a:solidFill>
                <a:srgbClr val="0E182F"/>
              </a:solidFill>
              <a:latin typeface="Assistant Bold"/>
              <a:ea typeface="Assistant Bold"/>
              <a:cs typeface="Assistant Bold"/>
              <a:sym typeface="Assistant Bold"/>
            </a:endParaRPr>
          </a:p>
          <a:p>
            <a:pPr>
              <a:lnSpc>
                <a:spcPts val="3750"/>
              </a:lnSpc>
            </a:pPr>
            <a:endParaRPr lang="en-US" sz="3750" b="1" spc="56" dirty="0">
              <a:solidFill>
                <a:srgbClr val="0E182F"/>
              </a:solidFill>
              <a:latin typeface="Assistant Bold"/>
              <a:ea typeface="Assistant Bold"/>
              <a:cs typeface="Assistant Bold"/>
              <a:sym typeface="Assistant Bold"/>
            </a:endParaRPr>
          </a:p>
          <a:p>
            <a:pPr>
              <a:lnSpc>
                <a:spcPts val="3750"/>
              </a:lnSpc>
            </a:pPr>
            <a:r>
              <a:rPr lang="en-US" sz="3750" b="1" spc="56" dirty="0">
                <a:solidFill>
                  <a:srgbClr val="0E182F"/>
                </a:solidFill>
                <a:latin typeface="Assistant Bold"/>
                <a:ea typeface="Assistant Bold"/>
                <a:cs typeface="Assistant Bold"/>
                <a:sym typeface="Assistant Bold"/>
              </a:rPr>
              <a:t>Members:</a:t>
            </a:r>
          </a:p>
          <a:p>
            <a:pPr marL="571500" indent="-571500" algn="l">
              <a:lnSpc>
                <a:spcPts val="3750"/>
              </a:lnSpc>
              <a:buFont typeface="Wingdings" panose="05000000000000000000" pitchFamily="2" charset="2"/>
              <a:buChar char="§"/>
            </a:pPr>
            <a:r>
              <a:rPr lang="en-US" sz="3750" spc="56" dirty="0">
                <a:solidFill>
                  <a:srgbClr val="0E182F"/>
                </a:solidFill>
                <a:latin typeface="Assistant"/>
                <a:ea typeface="Assistant"/>
                <a:cs typeface="Assistant"/>
                <a:sym typeface="Assistant"/>
              </a:rPr>
              <a:t>Anurag Sharma(230174)</a:t>
            </a:r>
          </a:p>
          <a:p>
            <a:pPr marL="571500" indent="-571500" algn="l">
              <a:lnSpc>
                <a:spcPts val="3750"/>
              </a:lnSpc>
              <a:buFont typeface="Wingdings" panose="05000000000000000000" pitchFamily="2" charset="2"/>
              <a:buChar char="§"/>
            </a:pPr>
            <a:r>
              <a:rPr lang="en-US" sz="3750" spc="56" dirty="0">
                <a:solidFill>
                  <a:srgbClr val="0E182F"/>
                </a:solidFill>
                <a:latin typeface="Assistant"/>
                <a:ea typeface="Assistant"/>
                <a:cs typeface="Assistant"/>
                <a:sym typeface="Assistant"/>
              </a:rPr>
              <a:t>Awnish Kumar(230250)</a:t>
            </a:r>
          </a:p>
          <a:p>
            <a:pPr marL="571500" indent="-571500" algn="l">
              <a:lnSpc>
                <a:spcPts val="3750"/>
              </a:lnSpc>
              <a:buFont typeface="Wingdings" panose="05000000000000000000" pitchFamily="2" charset="2"/>
              <a:buChar char="§"/>
            </a:pPr>
            <a:r>
              <a:rPr lang="en-US" sz="3750" spc="56" dirty="0">
                <a:solidFill>
                  <a:srgbClr val="0E182F"/>
                </a:solidFill>
                <a:latin typeface="Assistant"/>
                <a:ea typeface="Assistant"/>
                <a:cs typeface="Assistant"/>
                <a:sym typeface="Assistant"/>
              </a:rPr>
              <a:t>Himanshu Dugar (230472)</a:t>
            </a:r>
          </a:p>
          <a:p>
            <a:pPr marL="571500" indent="-571500" algn="l">
              <a:lnSpc>
                <a:spcPts val="3750"/>
              </a:lnSpc>
              <a:buFont typeface="Wingdings" panose="05000000000000000000" pitchFamily="2" charset="2"/>
              <a:buChar char="§"/>
            </a:pPr>
            <a:r>
              <a:rPr lang="en-US" sz="3750" spc="56" dirty="0">
                <a:solidFill>
                  <a:srgbClr val="0E182F"/>
                </a:solidFill>
                <a:latin typeface="Assistant"/>
                <a:ea typeface="Assistant"/>
                <a:cs typeface="Assistant"/>
                <a:sym typeface="Assistant"/>
              </a:rPr>
              <a:t>Siddharth Jaiswal(231005)</a:t>
            </a:r>
          </a:p>
          <a:p>
            <a:pPr marL="571500" indent="-571500" algn="l">
              <a:lnSpc>
                <a:spcPts val="3750"/>
              </a:lnSpc>
              <a:spcBef>
                <a:spcPct val="0"/>
              </a:spcBef>
              <a:buFont typeface="Wingdings" panose="05000000000000000000" pitchFamily="2" charset="2"/>
              <a:buChar char="§"/>
            </a:pPr>
            <a:r>
              <a:rPr lang="en-US" sz="3750" spc="56" dirty="0">
                <a:solidFill>
                  <a:srgbClr val="0E182F"/>
                </a:solidFill>
                <a:latin typeface="Assistant"/>
                <a:ea typeface="Assistant"/>
                <a:cs typeface="Assistant"/>
                <a:sym typeface="Assistant"/>
              </a:rPr>
              <a:t>Subhankar Sutradhar(231042)</a:t>
            </a:r>
          </a:p>
        </p:txBody>
      </p:sp>
      <p:sp>
        <p:nvSpPr>
          <p:cNvPr id="20" name="TextBox 11">
            <a:extLst>
              <a:ext uri="{FF2B5EF4-FFF2-40B4-BE49-F238E27FC236}">
                <a16:creationId xmlns:a16="http://schemas.microsoft.com/office/drawing/2014/main" id="{B6FF1B7D-8CD2-BFEF-914D-D5609CBEE227}"/>
              </a:ext>
            </a:extLst>
          </p:cNvPr>
          <p:cNvSpPr txBox="1"/>
          <p:nvPr/>
        </p:nvSpPr>
        <p:spPr>
          <a:xfrm>
            <a:off x="2715779" y="6180035"/>
            <a:ext cx="5235619" cy="2928687"/>
          </a:xfrm>
          <a:prstGeom prst="rect">
            <a:avLst/>
          </a:prstGeom>
        </p:spPr>
        <p:txBody>
          <a:bodyPr lIns="0" tIns="0" rIns="0" bIns="0" rtlCol="0" anchor="t">
            <a:spAutoFit/>
          </a:bodyPr>
          <a:lstStyle/>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r>
              <a:rPr lang="en-US" sz="3750" b="1" spc="56" dirty="0">
                <a:solidFill>
                  <a:srgbClr val="0E182F"/>
                </a:solidFill>
                <a:latin typeface="Assistant Bold"/>
                <a:ea typeface="Assistant Bold"/>
                <a:cs typeface="Assistant Bold"/>
                <a:sym typeface="Assistant Bold"/>
              </a:rPr>
              <a:t>Tutor</a:t>
            </a:r>
          </a:p>
          <a:p>
            <a:pPr algn="ctr">
              <a:lnSpc>
                <a:spcPts val="3750"/>
              </a:lnSpc>
              <a:spcBef>
                <a:spcPct val="0"/>
              </a:spcBef>
            </a:pPr>
            <a:r>
              <a:rPr lang="en-US" sz="3750" spc="56" dirty="0">
                <a:solidFill>
                  <a:srgbClr val="0E182F"/>
                </a:solidFill>
                <a:latin typeface="Assistant"/>
                <a:ea typeface="Assistant"/>
                <a:cs typeface="Assistant"/>
                <a:sym typeface="Assistant"/>
              </a:rPr>
              <a:t>Jamil Mahmood</a:t>
            </a:r>
          </a:p>
        </p:txBody>
      </p:sp>
      <p:sp>
        <p:nvSpPr>
          <p:cNvPr id="21" name="TextBox 12">
            <a:extLst>
              <a:ext uri="{FF2B5EF4-FFF2-40B4-BE49-F238E27FC236}">
                <a16:creationId xmlns:a16="http://schemas.microsoft.com/office/drawing/2014/main" id="{E2190E54-5E1C-7C28-218C-957F9B6A13E6}"/>
              </a:ext>
            </a:extLst>
          </p:cNvPr>
          <p:cNvSpPr txBox="1"/>
          <p:nvPr/>
        </p:nvSpPr>
        <p:spPr>
          <a:xfrm>
            <a:off x="2644607" y="5033383"/>
            <a:ext cx="5235619" cy="2441374"/>
          </a:xfrm>
          <a:prstGeom prst="rect">
            <a:avLst/>
          </a:prstGeom>
        </p:spPr>
        <p:txBody>
          <a:bodyPr lIns="0" tIns="0" rIns="0" bIns="0" rtlCol="0" anchor="t">
            <a:spAutoFit/>
          </a:bodyPr>
          <a:lstStyle/>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endParaRPr lang="en-US" sz="3750" b="1" spc="56" dirty="0">
              <a:solidFill>
                <a:srgbClr val="0E182F"/>
              </a:solidFill>
              <a:latin typeface="Assistant Bold"/>
              <a:ea typeface="Assistant Bold"/>
              <a:cs typeface="Assistant Bold"/>
              <a:sym typeface="Assistant Bold"/>
            </a:endParaRPr>
          </a:p>
          <a:p>
            <a:pPr algn="ctr">
              <a:lnSpc>
                <a:spcPts val="3750"/>
              </a:lnSpc>
            </a:pPr>
            <a:r>
              <a:rPr lang="en-US" sz="3750" b="1" spc="56" dirty="0">
                <a:solidFill>
                  <a:srgbClr val="0E182F"/>
                </a:solidFill>
                <a:latin typeface="Assistant Bold"/>
                <a:ea typeface="Assistant Bold"/>
                <a:cs typeface="Assistant Bold"/>
                <a:sym typeface="Assistant Bold"/>
              </a:rPr>
              <a:t>Teaching Assistant</a:t>
            </a:r>
          </a:p>
          <a:p>
            <a:pPr algn="ctr">
              <a:lnSpc>
                <a:spcPts val="3750"/>
              </a:lnSpc>
              <a:spcBef>
                <a:spcPct val="0"/>
              </a:spcBef>
            </a:pPr>
            <a:r>
              <a:rPr lang="en-US" sz="3750" spc="56" dirty="0">
                <a:solidFill>
                  <a:srgbClr val="0E182F"/>
                </a:solidFill>
                <a:latin typeface="Assistant"/>
                <a:ea typeface="Assistant"/>
                <a:cs typeface="Assistant"/>
                <a:sym typeface="Assistant"/>
              </a:rPr>
              <a:t>Shivangi Sinha</a:t>
            </a:r>
          </a:p>
        </p:txBody>
      </p:sp>
      <p:sp>
        <p:nvSpPr>
          <p:cNvPr id="22" name="TextBox 21">
            <a:extLst>
              <a:ext uri="{FF2B5EF4-FFF2-40B4-BE49-F238E27FC236}">
                <a16:creationId xmlns:a16="http://schemas.microsoft.com/office/drawing/2014/main" id="{8947F55A-178F-627F-5CB3-C64B7473EC86}"/>
              </a:ext>
            </a:extLst>
          </p:cNvPr>
          <p:cNvSpPr txBox="1"/>
          <p:nvPr/>
        </p:nvSpPr>
        <p:spPr>
          <a:xfrm>
            <a:off x="7427541" y="9392318"/>
            <a:ext cx="2996240" cy="568621"/>
          </a:xfrm>
          <a:prstGeom prst="rect">
            <a:avLst/>
          </a:prstGeom>
          <a:noFill/>
        </p:spPr>
        <p:txBody>
          <a:bodyPr wrap="square" rtlCol="0">
            <a:spAutoFit/>
          </a:bodyPr>
          <a:lstStyle/>
          <a:p>
            <a:r>
              <a:rPr lang="en-IN" sz="3000" b="1" dirty="0">
                <a:latin typeface="+mj-lt"/>
              </a:rPr>
              <a:t>Tuesday Group 7</a:t>
            </a:r>
          </a:p>
        </p:txBody>
      </p:sp>
      <p:pic>
        <p:nvPicPr>
          <p:cNvPr id="1032" name="Picture 8">
            <a:extLst>
              <a:ext uri="{FF2B5EF4-FFF2-40B4-BE49-F238E27FC236}">
                <a16:creationId xmlns:a16="http://schemas.microsoft.com/office/drawing/2014/main" id="{24E9DA1E-F067-D452-37F0-429161D1C2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2330" y="440871"/>
            <a:ext cx="1875726" cy="1883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483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848383" y="-2324335"/>
            <a:ext cx="8623491" cy="8750775"/>
          </a:xfrm>
          <a:custGeom>
            <a:avLst/>
            <a:gdLst/>
            <a:ahLst/>
            <a:cxnLst/>
            <a:rect l="l" t="t" r="r" b="b"/>
            <a:pathLst>
              <a:path w="8623491" h="8750775">
                <a:moveTo>
                  <a:pt x="8623492" y="8750775"/>
                </a:moveTo>
                <a:lnTo>
                  <a:pt x="0" y="8750775"/>
                </a:lnTo>
                <a:lnTo>
                  <a:pt x="0" y="0"/>
                </a:lnTo>
                <a:lnTo>
                  <a:pt x="8623492" y="0"/>
                </a:lnTo>
                <a:lnTo>
                  <a:pt x="8623492"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997924"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992551" y="2716218"/>
            <a:ext cx="14484358" cy="6253480"/>
          </a:xfrm>
          <a:prstGeom prst="rect">
            <a:avLst/>
          </a:prstGeom>
        </p:spPr>
        <p:txBody>
          <a:bodyPr lIns="0" tIns="0" rIns="0" bIns="0" rtlCol="0" anchor="t">
            <a:spAutoFit/>
          </a:bodyPr>
          <a:lstStyle/>
          <a:p>
            <a:pPr algn="just">
              <a:lnSpc>
                <a:spcPts val="4970"/>
              </a:lnSpc>
            </a:pPr>
            <a:r>
              <a:rPr lang="en-US" sz="3550" spc="53">
                <a:solidFill>
                  <a:srgbClr val="0D1C38"/>
                </a:solidFill>
                <a:latin typeface="Assistant"/>
                <a:ea typeface="Assistant"/>
                <a:cs typeface="Assistant"/>
                <a:sym typeface="Assistant"/>
              </a:rPr>
              <a:t>We would like to express our heartfelt gratitude towards our Instructor,</a:t>
            </a:r>
          </a:p>
          <a:p>
            <a:pPr algn="just">
              <a:lnSpc>
                <a:spcPts val="4970"/>
              </a:lnSpc>
            </a:pPr>
            <a:r>
              <a:rPr lang="en-US" sz="3550" spc="53">
                <a:solidFill>
                  <a:srgbClr val="0D1C38"/>
                </a:solidFill>
                <a:latin typeface="Assistant"/>
                <a:ea typeface="Assistant"/>
                <a:cs typeface="Assistant"/>
                <a:sym typeface="Assistant"/>
              </a:rPr>
              <a:t>Prof. Salil Goel, for giving us the opportunity to learn about the field of</a:t>
            </a:r>
          </a:p>
          <a:p>
            <a:pPr algn="just">
              <a:lnSpc>
                <a:spcPts val="4970"/>
              </a:lnSpc>
            </a:pPr>
            <a:r>
              <a:rPr lang="en-US" sz="3550" spc="53">
                <a:solidFill>
                  <a:srgbClr val="0D1C38"/>
                </a:solidFill>
                <a:latin typeface="Assistant"/>
                <a:ea typeface="Assistant"/>
                <a:cs typeface="Assistant"/>
                <a:sym typeface="Assistant"/>
              </a:rPr>
              <a:t>Geoinformatics, in class as well as on-site. We would also like to express our heartfelt thanks to our Teaching Assistants and Tutors, whose guidance and support helped us navigate each step of this project. We’re also deeply appreciative of the lab staff, who were always there to help us with equipment and logistics, keeping everything running smoothly and allowing us to focus on our work. And, of course, a big thank you to our fellow lab members working alongside you made this project not only productive but also genuinely enjoyable.</a:t>
            </a:r>
          </a:p>
        </p:txBody>
      </p:sp>
      <p:sp>
        <p:nvSpPr>
          <p:cNvPr id="10" name="TextBox 10"/>
          <p:cNvSpPr txBox="1"/>
          <p:nvPr/>
        </p:nvSpPr>
        <p:spPr>
          <a:xfrm>
            <a:off x="1199833" y="1614488"/>
            <a:ext cx="15110213" cy="857280"/>
          </a:xfrm>
          <a:prstGeom prst="rect">
            <a:avLst/>
          </a:prstGeom>
        </p:spPr>
        <p:txBody>
          <a:bodyPr lIns="0" tIns="0" rIns="0" bIns="0" rtlCol="0" anchor="t">
            <a:spAutoFit/>
          </a:bodyPr>
          <a:lstStyle/>
          <a:p>
            <a:pPr algn="ctr">
              <a:lnSpc>
                <a:spcPts val="6000"/>
              </a:lnSpc>
            </a:pPr>
            <a:r>
              <a:rPr lang="en-US" sz="7500" dirty="0">
                <a:solidFill>
                  <a:srgbClr val="0D1C38"/>
                </a:solidFill>
                <a:latin typeface="Roca One"/>
                <a:ea typeface="Roca One"/>
                <a:cs typeface="Roca One"/>
                <a:sym typeface="Roca One"/>
              </a:rPr>
              <a:t>ACKNOWLEDGEMENT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38968"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INTRODUCTION</a:t>
            </a:r>
          </a:p>
        </p:txBody>
      </p:sp>
      <p:sp>
        <p:nvSpPr>
          <p:cNvPr id="10" name="TextBox 10"/>
          <p:cNvSpPr txBox="1"/>
          <p:nvPr/>
        </p:nvSpPr>
        <p:spPr>
          <a:xfrm>
            <a:off x="2318947" y="3055592"/>
            <a:ext cx="13841073" cy="12163380"/>
          </a:xfrm>
          <a:prstGeom prst="rect">
            <a:avLst/>
          </a:prstGeom>
        </p:spPr>
        <p:txBody>
          <a:bodyPr lIns="0" tIns="0" rIns="0" bIns="0" rtlCol="0" anchor="t">
            <a:spAutoFit/>
          </a:bodyPr>
          <a:lstStyle/>
          <a:p>
            <a:pPr algn="just">
              <a:lnSpc>
                <a:spcPts val="3748"/>
              </a:lnSpc>
            </a:pPr>
            <a:r>
              <a:rPr lang="en-US" sz="3748" spc="56" dirty="0">
                <a:solidFill>
                  <a:srgbClr val="0D1C38"/>
                </a:solidFill>
                <a:latin typeface="Assistant"/>
                <a:ea typeface="Assistant"/>
                <a:cs typeface="Assistant"/>
                <a:sym typeface="Assistant"/>
              </a:rPr>
              <a:t>This project and its presentation is an integral part of the Principles of Geoinformatics course (CE331)</a:t>
            </a: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r>
              <a:rPr lang="en-US" sz="3748" spc="56" dirty="0">
                <a:solidFill>
                  <a:srgbClr val="0D1C38"/>
                </a:solidFill>
                <a:latin typeface="Assistant"/>
                <a:ea typeface="Assistant"/>
                <a:cs typeface="Assistant"/>
                <a:sym typeface="Assistant"/>
              </a:rPr>
              <a:t>• </a:t>
            </a:r>
            <a:r>
              <a:rPr lang="en-US" sz="3748" b="1" spc="56" dirty="0">
                <a:solidFill>
                  <a:srgbClr val="0D1C38"/>
                </a:solidFill>
                <a:latin typeface="Assistant Bold"/>
                <a:ea typeface="Assistant Bold"/>
                <a:cs typeface="Assistant Bold"/>
                <a:sym typeface="Assistant Bold"/>
              </a:rPr>
              <a:t>Significance</a:t>
            </a:r>
            <a:r>
              <a:rPr lang="en-US" sz="3748" spc="56" dirty="0">
                <a:solidFill>
                  <a:srgbClr val="0D1C38"/>
                </a:solidFill>
                <a:latin typeface="Assistant"/>
                <a:ea typeface="Assistant"/>
                <a:cs typeface="Assistant"/>
                <a:sym typeface="Assistant"/>
              </a:rPr>
              <a:t>: A hands-on end-to-end experience where we apply concepts taught in class and procedures taught in the laboratory sessions.</a:t>
            </a: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r>
              <a:rPr lang="en-US" sz="3748" spc="56" dirty="0">
                <a:solidFill>
                  <a:srgbClr val="0D1C38"/>
                </a:solidFill>
                <a:latin typeface="Assistant"/>
                <a:ea typeface="Assistant"/>
                <a:cs typeface="Assistant"/>
                <a:sym typeface="Assistant"/>
              </a:rPr>
              <a:t>• This project involves all necessary steps for </a:t>
            </a:r>
            <a:r>
              <a:rPr lang="en-US" sz="3748" b="1" spc="56" dirty="0">
                <a:solidFill>
                  <a:srgbClr val="0D1C38"/>
                </a:solidFill>
                <a:latin typeface="Assistant Bold"/>
                <a:ea typeface="Assistant Bold"/>
                <a:cs typeface="Assistant Bold"/>
                <a:sym typeface="Assistant Bold"/>
              </a:rPr>
              <a:t>map-making,</a:t>
            </a:r>
            <a:r>
              <a:rPr lang="en-US" sz="3748" spc="56" dirty="0">
                <a:solidFill>
                  <a:srgbClr val="0D1C38"/>
                </a:solidFill>
                <a:latin typeface="Assistant"/>
                <a:ea typeface="Assistant"/>
                <a:cs typeface="Assistant"/>
                <a:sym typeface="Assistant"/>
              </a:rPr>
              <a:t> including setting up a </a:t>
            </a:r>
            <a:r>
              <a:rPr lang="en-US" sz="3748" b="1" spc="56" dirty="0">
                <a:solidFill>
                  <a:srgbClr val="0D1C38"/>
                </a:solidFill>
                <a:latin typeface="Assistant Bold"/>
                <a:ea typeface="Assistant Bold"/>
                <a:cs typeface="Assistant Bold"/>
                <a:sym typeface="Assistant Bold"/>
              </a:rPr>
              <a:t>control network, levelling, traversing, feature observations,</a:t>
            </a:r>
            <a:r>
              <a:rPr lang="en-US" sz="3748" spc="56" dirty="0">
                <a:solidFill>
                  <a:srgbClr val="0D1C38"/>
                </a:solidFill>
                <a:latin typeface="Assistant"/>
                <a:ea typeface="Assistant"/>
                <a:cs typeface="Assistant"/>
                <a:sym typeface="Assistant"/>
              </a:rPr>
              <a:t> and finally collating all the collected data into a map of the area allotted to us.</a:t>
            </a: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spcBef>
                <a:spcPct val="0"/>
              </a:spcBef>
            </a:pPr>
            <a:endParaRPr lang="en-US" sz="3748" spc="56" dirty="0">
              <a:solidFill>
                <a:srgbClr val="0D1C38"/>
              </a:solidFill>
              <a:latin typeface="Assistant"/>
              <a:ea typeface="Assistant"/>
              <a:cs typeface="Assistant"/>
              <a:sym typeface="Assistan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OBJECTIVES</a:t>
            </a:r>
          </a:p>
        </p:txBody>
      </p:sp>
      <p:sp>
        <p:nvSpPr>
          <p:cNvPr id="10" name="TextBox 10"/>
          <p:cNvSpPr txBox="1"/>
          <p:nvPr/>
        </p:nvSpPr>
        <p:spPr>
          <a:xfrm>
            <a:off x="2318947" y="3055592"/>
            <a:ext cx="13841073" cy="5227328"/>
          </a:xfrm>
          <a:prstGeom prst="rect">
            <a:avLst/>
          </a:prstGeom>
        </p:spPr>
        <p:txBody>
          <a:bodyPr lIns="0" tIns="0" rIns="0" bIns="0" rtlCol="0" anchor="t">
            <a:spAutoFit/>
          </a:bodyPr>
          <a:lstStyle/>
          <a:p>
            <a:pPr algn="just">
              <a:lnSpc>
                <a:spcPts val="3748"/>
              </a:lnSpc>
            </a:pPr>
            <a:r>
              <a:rPr lang="en-US" sz="3748" spc="56" dirty="0">
                <a:solidFill>
                  <a:srgbClr val="0D1C38"/>
                </a:solidFill>
                <a:latin typeface="Assistant"/>
                <a:ea typeface="Assistant"/>
                <a:cs typeface="Assistant"/>
                <a:sym typeface="Assistant"/>
              </a:rPr>
              <a:t> • </a:t>
            </a:r>
            <a:r>
              <a:rPr lang="en-US" sz="3748" b="1" spc="56" dirty="0">
                <a:solidFill>
                  <a:srgbClr val="0D1C38"/>
                </a:solidFill>
                <a:latin typeface="Assistant Bold"/>
                <a:ea typeface="Assistant Bold"/>
                <a:cs typeface="Assistant Bold"/>
                <a:sym typeface="Assistant Bold"/>
              </a:rPr>
              <a:t>Apply principles taught in class:</a:t>
            </a:r>
            <a:r>
              <a:rPr lang="en-US" sz="3748" spc="56" dirty="0">
                <a:solidFill>
                  <a:srgbClr val="0D1C38"/>
                </a:solidFill>
                <a:latin typeface="Assistant"/>
                <a:ea typeface="Assistant"/>
                <a:cs typeface="Assistant"/>
                <a:sym typeface="Assistant"/>
              </a:rPr>
              <a:t> Followed the steps of map-making taught in class from scratch.</a:t>
            </a:r>
          </a:p>
          <a:p>
            <a:pPr algn="just">
              <a:lnSpc>
                <a:spcPts val="3748"/>
              </a:lnSpc>
            </a:pPr>
            <a:endParaRPr lang="en-US" sz="3748" spc="56" dirty="0">
              <a:solidFill>
                <a:srgbClr val="0D1C38"/>
              </a:solidFill>
              <a:latin typeface="Assistant"/>
              <a:ea typeface="Assistant"/>
              <a:cs typeface="Assistant"/>
              <a:sym typeface="Assistant"/>
            </a:endParaRPr>
          </a:p>
          <a:p>
            <a:pPr algn="just">
              <a:lnSpc>
                <a:spcPts val="3748"/>
              </a:lnSpc>
            </a:pPr>
            <a:r>
              <a:rPr lang="en-US" sz="3748" dirty="0">
                <a:solidFill>
                  <a:srgbClr val="0D1C38"/>
                </a:solidFill>
                <a:latin typeface="Assistant"/>
                <a:ea typeface="Assistant"/>
                <a:cs typeface="Assistant"/>
                <a:sym typeface="Assistant"/>
              </a:rPr>
              <a:t> • Gain hands-on experience with geoinformatics </a:t>
            </a:r>
            <a:r>
              <a:rPr lang="en-US" sz="3748" b="1" dirty="0">
                <a:solidFill>
                  <a:srgbClr val="0D1C38"/>
                </a:solidFill>
                <a:latin typeface="Assistant Bold"/>
                <a:ea typeface="Assistant Bold"/>
                <a:cs typeface="Assistant Bold"/>
                <a:sym typeface="Assistant Bold"/>
              </a:rPr>
              <a:t>tools and software</a:t>
            </a:r>
            <a:r>
              <a:rPr lang="en-US" sz="3748" dirty="0">
                <a:solidFill>
                  <a:srgbClr val="0D1C38"/>
                </a:solidFill>
                <a:latin typeface="Assistant"/>
                <a:ea typeface="Assistant"/>
                <a:cs typeface="Assistant"/>
                <a:sym typeface="Assistant"/>
              </a:rPr>
              <a:t>, including Auto-level, Total Station, and QGIS.</a:t>
            </a:r>
          </a:p>
          <a:p>
            <a:pPr algn="just">
              <a:lnSpc>
                <a:spcPts val="3748"/>
              </a:lnSpc>
            </a:pPr>
            <a:endParaRPr lang="en-US" sz="3748" dirty="0">
              <a:solidFill>
                <a:srgbClr val="0D1C38"/>
              </a:solidFill>
              <a:latin typeface="Assistant"/>
              <a:ea typeface="Assistant"/>
              <a:cs typeface="Assistant"/>
              <a:sym typeface="Assistant"/>
            </a:endParaRPr>
          </a:p>
          <a:p>
            <a:pPr algn="just">
              <a:lnSpc>
                <a:spcPts val="3748"/>
              </a:lnSpc>
            </a:pPr>
            <a:r>
              <a:rPr lang="en-US" sz="3748" spc="56" dirty="0">
                <a:solidFill>
                  <a:srgbClr val="0D1C38"/>
                </a:solidFill>
                <a:latin typeface="Assistant"/>
                <a:ea typeface="Assistant"/>
                <a:cs typeface="Assistant"/>
                <a:sym typeface="Assistant"/>
              </a:rPr>
              <a:t> • </a:t>
            </a:r>
            <a:r>
              <a:rPr lang="en-US" sz="3748" b="1" spc="56" dirty="0">
                <a:solidFill>
                  <a:srgbClr val="0D1C38"/>
                </a:solidFill>
                <a:latin typeface="Assistant Bold"/>
                <a:ea typeface="Assistant Bold"/>
                <a:cs typeface="Assistant Bold"/>
                <a:sym typeface="Assistant Bold"/>
              </a:rPr>
              <a:t>Data Processing:</a:t>
            </a:r>
            <a:r>
              <a:rPr lang="en-US" sz="3748" spc="56" dirty="0">
                <a:solidFill>
                  <a:srgbClr val="0D1C38"/>
                </a:solidFill>
                <a:latin typeface="Assistant"/>
                <a:ea typeface="Assistant"/>
                <a:cs typeface="Assistant"/>
                <a:sym typeface="Assistant"/>
              </a:rPr>
              <a:t> Learn to analyze and interpret geospatial data, including traversal, and report the Quality of Work of the data collected.</a:t>
            </a:r>
          </a:p>
          <a:p>
            <a:pPr algn="just">
              <a:lnSpc>
                <a:spcPts val="3748"/>
              </a:lnSpc>
            </a:pPr>
            <a:r>
              <a:rPr lang="en-US" sz="3748" spc="56" dirty="0">
                <a:solidFill>
                  <a:srgbClr val="0D1C38"/>
                </a:solidFill>
                <a:latin typeface="Assistant"/>
                <a:ea typeface="Assistant"/>
                <a:cs typeface="Assistant"/>
                <a:sym typeface="Assistant"/>
              </a:rPr>
              <a:t> </a:t>
            </a:r>
          </a:p>
          <a:p>
            <a:pPr algn="just">
              <a:lnSpc>
                <a:spcPts val="3748"/>
              </a:lnSpc>
            </a:pPr>
            <a:r>
              <a:rPr lang="en-US" sz="3748" spc="56" dirty="0">
                <a:solidFill>
                  <a:srgbClr val="0D1C38"/>
                </a:solidFill>
                <a:latin typeface="Assistant"/>
                <a:ea typeface="Assistant"/>
                <a:cs typeface="Assistant"/>
                <a:sym typeface="Assistant"/>
              </a:rPr>
              <a:t>• Create detailed and precise maps.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204756"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a:off x="6445318" y="3185253"/>
            <a:ext cx="5041083" cy="760385"/>
            <a:chOff x="-13143" y="0"/>
            <a:chExt cx="1327693" cy="200266"/>
          </a:xfrm>
        </p:grpSpPr>
        <p:sp>
          <p:nvSpPr>
            <p:cNvPr id="10" name="Freeform 10"/>
            <p:cNvSpPr/>
            <p:nvPr/>
          </p:nvSpPr>
          <p:spPr>
            <a:xfrm>
              <a:off x="0" y="0"/>
              <a:ext cx="1314550" cy="200266"/>
            </a:xfrm>
            <a:custGeom>
              <a:avLst/>
              <a:gdLst/>
              <a:ahLst/>
              <a:cxnLst/>
              <a:rect l="l" t="t" r="r" b="b"/>
              <a:pathLst>
                <a:path w="1314550" h="200266">
                  <a:moveTo>
                    <a:pt x="66698" y="0"/>
                  </a:moveTo>
                  <a:lnTo>
                    <a:pt x="1247852" y="0"/>
                  </a:lnTo>
                  <a:cubicBezTo>
                    <a:pt x="1284688" y="0"/>
                    <a:pt x="1314550" y="29862"/>
                    <a:pt x="1314550" y="66698"/>
                  </a:cubicBezTo>
                  <a:lnTo>
                    <a:pt x="1314550" y="133568"/>
                  </a:lnTo>
                  <a:cubicBezTo>
                    <a:pt x="1314550" y="170404"/>
                    <a:pt x="1284688" y="200266"/>
                    <a:pt x="1247852" y="200266"/>
                  </a:cubicBezTo>
                  <a:lnTo>
                    <a:pt x="66698" y="200266"/>
                  </a:lnTo>
                  <a:cubicBezTo>
                    <a:pt x="29862" y="200266"/>
                    <a:pt x="0" y="170404"/>
                    <a:pt x="0" y="133568"/>
                  </a:cubicBezTo>
                  <a:lnTo>
                    <a:pt x="0" y="66698"/>
                  </a:lnTo>
                  <a:cubicBezTo>
                    <a:pt x="0" y="29862"/>
                    <a:pt x="29862" y="0"/>
                    <a:pt x="66698" y="0"/>
                  </a:cubicBezTo>
                  <a:close/>
                </a:path>
              </a:pathLst>
            </a:custGeom>
            <a:solidFill>
              <a:srgbClr val="0463B5"/>
            </a:solidFill>
          </p:spPr>
        </p:sp>
        <p:sp>
          <p:nvSpPr>
            <p:cNvPr id="11" name="TextBox 11"/>
            <p:cNvSpPr txBox="1"/>
            <p:nvPr/>
          </p:nvSpPr>
          <p:spPr>
            <a:xfrm>
              <a:off x="-13143" y="45250"/>
              <a:ext cx="1314550" cy="133591"/>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Reconnaissance</a:t>
              </a:r>
            </a:p>
          </p:txBody>
        </p:sp>
      </p:grpSp>
      <p:sp>
        <p:nvSpPr>
          <p:cNvPr id="12" name="TextBox 12"/>
          <p:cNvSpPr txBox="1"/>
          <p:nvPr/>
        </p:nvSpPr>
        <p:spPr>
          <a:xfrm>
            <a:off x="1204756" y="1681163"/>
            <a:ext cx="15622946" cy="1092232"/>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METHODOLOGY </a:t>
            </a:r>
          </a:p>
        </p:txBody>
      </p:sp>
      <p:grpSp>
        <p:nvGrpSpPr>
          <p:cNvPr id="13" name="Group 13"/>
          <p:cNvGrpSpPr/>
          <p:nvPr/>
        </p:nvGrpSpPr>
        <p:grpSpPr>
          <a:xfrm>
            <a:off x="6495220" y="4269488"/>
            <a:ext cx="4991181" cy="760385"/>
            <a:chOff x="0" y="0"/>
            <a:chExt cx="1314550" cy="200266"/>
          </a:xfrm>
        </p:grpSpPr>
        <p:sp>
          <p:nvSpPr>
            <p:cNvPr id="14" name="Freeform 14"/>
            <p:cNvSpPr/>
            <p:nvPr/>
          </p:nvSpPr>
          <p:spPr>
            <a:xfrm>
              <a:off x="0" y="0"/>
              <a:ext cx="1314550" cy="200266"/>
            </a:xfrm>
            <a:custGeom>
              <a:avLst/>
              <a:gdLst/>
              <a:ahLst/>
              <a:cxnLst/>
              <a:rect l="l" t="t" r="r" b="b"/>
              <a:pathLst>
                <a:path w="1314550" h="200266">
                  <a:moveTo>
                    <a:pt x="66698" y="0"/>
                  </a:moveTo>
                  <a:lnTo>
                    <a:pt x="1247852" y="0"/>
                  </a:lnTo>
                  <a:cubicBezTo>
                    <a:pt x="1284688" y="0"/>
                    <a:pt x="1314550" y="29862"/>
                    <a:pt x="1314550" y="66698"/>
                  </a:cubicBezTo>
                  <a:lnTo>
                    <a:pt x="1314550" y="133568"/>
                  </a:lnTo>
                  <a:cubicBezTo>
                    <a:pt x="1314550" y="170404"/>
                    <a:pt x="1284688" y="200266"/>
                    <a:pt x="1247852" y="200266"/>
                  </a:cubicBezTo>
                  <a:lnTo>
                    <a:pt x="66698" y="200266"/>
                  </a:lnTo>
                  <a:cubicBezTo>
                    <a:pt x="29862" y="200266"/>
                    <a:pt x="0" y="170404"/>
                    <a:pt x="0" y="133568"/>
                  </a:cubicBezTo>
                  <a:lnTo>
                    <a:pt x="0" y="66698"/>
                  </a:lnTo>
                  <a:cubicBezTo>
                    <a:pt x="0" y="29862"/>
                    <a:pt x="29862" y="0"/>
                    <a:pt x="66698" y="0"/>
                  </a:cubicBezTo>
                  <a:close/>
                </a:path>
              </a:pathLst>
            </a:custGeom>
            <a:solidFill>
              <a:srgbClr val="0463B5"/>
            </a:solidFill>
          </p:spPr>
          <p:txBody>
            <a:bodyPr/>
            <a:lstStyle/>
            <a:p>
              <a:endParaRPr lang="en-IN" dirty="0"/>
            </a:p>
          </p:txBody>
        </p:sp>
        <p:sp>
          <p:nvSpPr>
            <p:cNvPr id="15" name="TextBox 15"/>
            <p:cNvSpPr txBox="1"/>
            <p:nvPr/>
          </p:nvSpPr>
          <p:spPr>
            <a:xfrm>
              <a:off x="0" y="66675"/>
              <a:ext cx="1314550" cy="133591"/>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Levelling</a:t>
              </a:r>
            </a:p>
          </p:txBody>
        </p:sp>
      </p:grpSp>
      <p:grpSp>
        <p:nvGrpSpPr>
          <p:cNvPr id="16" name="Group 16"/>
          <p:cNvGrpSpPr/>
          <p:nvPr/>
        </p:nvGrpSpPr>
        <p:grpSpPr>
          <a:xfrm>
            <a:off x="6495220" y="5353723"/>
            <a:ext cx="4991181" cy="760385"/>
            <a:chOff x="0" y="0"/>
            <a:chExt cx="1314550" cy="200266"/>
          </a:xfrm>
        </p:grpSpPr>
        <p:sp>
          <p:nvSpPr>
            <p:cNvPr id="17" name="Freeform 17"/>
            <p:cNvSpPr/>
            <p:nvPr/>
          </p:nvSpPr>
          <p:spPr>
            <a:xfrm>
              <a:off x="0" y="0"/>
              <a:ext cx="1314550" cy="200266"/>
            </a:xfrm>
            <a:custGeom>
              <a:avLst/>
              <a:gdLst/>
              <a:ahLst/>
              <a:cxnLst/>
              <a:rect l="l" t="t" r="r" b="b"/>
              <a:pathLst>
                <a:path w="1314550" h="200266">
                  <a:moveTo>
                    <a:pt x="66698" y="0"/>
                  </a:moveTo>
                  <a:lnTo>
                    <a:pt x="1247852" y="0"/>
                  </a:lnTo>
                  <a:cubicBezTo>
                    <a:pt x="1284688" y="0"/>
                    <a:pt x="1314550" y="29862"/>
                    <a:pt x="1314550" y="66698"/>
                  </a:cubicBezTo>
                  <a:lnTo>
                    <a:pt x="1314550" y="133568"/>
                  </a:lnTo>
                  <a:cubicBezTo>
                    <a:pt x="1314550" y="170404"/>
                    <a:pt x="1284688" y="200266"/>
                    <a:pt x="1247852" y="200266"/>
                  </a:cubicBezTo>
                  <a:lnTo>
                    <a:pt x="66698" y="200266"/>
                  </a:lnTo>
                  <a:cubicBezTo>
                    <a:pt x="29862" y="200266"/>
                    <a:pt x="0" y="170404"/>
                    <a:pt x="0" y="133568"/>
                  </a:cubicBezTo>
                  <a:lnTo>
                    <a:pt x="0" y="66698"/>
                  </a:lnTo>
                  <a:cubicBezTo>
                    <a:pt x="0" y="29862"/>
                    <a:pt x="29862" y="0"/>
                    <a:pt x="66698" y="0"/>
                  </a:cubicBezTo>
                  <a:close/>
                </a:path>
              </a:pathLst>
            </a:custGeom>
            <a:solidFill>
              <a:srgbClr val="0463B5"/>
            </a:solidFill>
          </p:spPr>
        </p:sp>
        <p:sp>
          <p:nvSpPr>
            <p:cNvPr id="18" name="TextBox 18"/>
            <p:cNvSpPr txBox="1"/>
            <p:nvPr/>
          </p:nvSpPr>
          <p:spPr>
            <a:xfrm>
              <a:off x="0" y="66675"/>
              <a:ext cx="1314550" cy="133591"/>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Traversing</a:t>
              </a:r>
            </a:p>
          </p:txBody>
        </p:sp>
      </p:grpSp>
      <p:grpSp>
        <p:nvGrpSpPr>
          <p:cNvPr id="19" name="Group 19"/>
          <p:cNvGrpSpPr/>
          <p:nvPr/>
        </p:nvGrpSpPr>
        <p:grpSpPr>
          <a:xfrm>
            <a:off x="6495220" y="6437958"/>
            <a:ext cx="5042017" cy="760385"/>
            <a:chOff x="0" y="0"/>
            <a:chExt cx="1327939" cy="200266"/>
          </a:xfrm>
        </p:grpSpPr>
        <p:sp>
          <p:nvSpPr>
            <p:cNvPr id="20" name="Freeform 20"/>
            <p:cNvSpPr/>
            <p:nvPr/>
          </p:nvSpPr>
          <p:spPr>
            <a:xfrm>
              <a:off x="0" y="0"/>
              <a:ext cx="1327939" cy="200266"/>
            </a:xfrm>
            <a:custGeom>
              <a:avLst/>
              <a:gdLst/>
              <a:ahLst/>
              <a:cxnLst/>
              <a:rect l="l" t="t" r="r" b="b"/>
              <a:pathLst>
                <a:path w="1327939" h="200266">
                  <a:moveTo>
                    <a:pt x="66026" y="0"/>
                  </a:moveTo>
                  <a:lnTo>
                    <a:pt x="1261913" y="0"/>
                  </a:lnTo>
                  <a:cubicBezTo>
                    <a:pt x="1279424" y="0"/>
                    <a:pt x="1296218" y="6956"/>
                    <a:pt x="1308600" y="19338"/>
                  </a:cubicBezTo>
                  <a:cubicBezTo>
                    <a:pt x="1320982" y="31721"/>
                    <a:pt x="1327939" y="48515"/>
                    <a:pt x="1327939" y="66026"/>
                  </a:cubicBezTo>
                  <a:lnTo>
                    <a:pt x="1327939" y="134240"/>
                  </a:lnTo>
                  <a:cubicBezTo>
                    <a:pt x="1327939" y="151751"/>
                    <a:pt x="1320982" y="168545"/>
                    <a:pt x="1308600" y="180928"/>
                  </a:cubicBezTo>
                  <a:cubicBezTo>
                    <a:pt x="1296218" y="193310"/>
                    <a:pt x="1279424" y="200266"/>
                    <a:pt x="1261913" y="200266"/>
                  </a:cubicBezTo>
                  <a:lnTo>
                    <a:pt x="66026" y="200266"/>
                  </a:lnTo>
                  <a:cubicBezTo>
                    <a:pt x="48515" y="200266"/>
                    <a:pt x="31721" y="193310"/>
                    <a:pt x="19338" y="180928"/>
                  </a:cubicBezTo>
                  <a:cubicBezTo>
                    <a:pt x="6956" y="168545"/>
                    <a:pt x="0" y="151751"/>
                    <a:pt x="0" y="134240"/>
                  </a:cubicBezTo>
                  <a:lnTo>
                    <a:pt x="0" y="66026"/>
                  </a:lnTo>
                  <a:cubicBezTo>
                    <a:pt x="0" y="48515"/>
                    <a:pt x="6956" y="31721"/>
                    <a:pt x="19338" y="19338"/>
                  </a:cubicBezTo>
                  <a:cubicBezTo>
                    <a:pt x="31721" y="6956"/>
                    <a:pt x="48515" y="0"/>
                    <a:pt x="66026" y="0"/>
                  </a:cubicBezTo>
                  <a:close/>
                </a:path>
              </a:pathLst>
            </a:custGeom>
            <a:solidFill>
              <a:srgbClr val="0463B5"/>
            </a:solidFill>
          </p:spPr>
        </p:sp>
        <p:sp>
          <p:nvSpPr>
            <p:cNvPr id="21" name="TextBox 21"/>
            <p:cNvSpPr txBox="1"/>
            <p:nvPr/>
          </p:nvSpPr>
          <p:spPr>
            <a:xfrm>
              <a:off x="0" y="66675"/>
              <a:ext cx="1327939" cy="133591"/>
            </a:xfrm>
            <a:prstGeom prst="rect">
              <a:avLst/>
            </a:prstGeom>
          </p:spPr>
          <p:txBody>
            <a:bodyPr lIns="50800" tIns="50800" rIns="50800" bIns="50800" rtlCol="0" anchor="ctr"/>
            <a:lstStyle/>
            <a:p>
              <a:pPr algn="ctr">
                <a:lnSpc>
                  <a:spcPts val="3281"/>
                </a:lnSpc>
              </a:pPr>
              <a:r>
                <a:rPr lang="en-US" sz="3281" spc="49">
                  <a:solidFill>
                    <a:srgbClr val="FFFFFF"/>
                  </a:solidFill>
                  <a:latin typeface="Assistant"/>
                  <a:ea typeface="Assistant"/>
                  <a:cs typeface="Assistant"/>
                  <a:sym typeface="Assistant"/>
                </a:rPr>
                <a:t>Feature Mapping</a:t>
              </a:r>
            </a:p>
          </p:txBody>
        </p:sp>
      </p:grpSp>
      <p:grpSp>
        <p:nvGrpSpPr>
          <p:cNvPr id="22" name="Group 22"/>
          <p:cNvGrpSpPr/>
          <p:nvPr/>
        </p:nvGrpSpPr>
        <p:grpSpPr>
          <a:xfrm>
            <a:off x="6495220" y="7521868"/>
            <a:ext cx="5042017" cy="717808"/>
            <a:chOff x="0" y="0"/>
            <a:chExt cx="1327939" cy="189052"/>
          </a:xfrm>
        </p:grpSpPr>
        <p:sp>
          <p:nvSpPr>
            <p:cNvPr id="23" name="Freeform 23"/>
            <p:cNvSpPr/>
            <p:nvPr/>
          </p:nvSpPr>
          <p:spPr>
            <a:xfrm>
              <a:off x="0" y="0"/>
              <a:ext cx="1327939" cy="189052"/>
            </a:xfrm>
            <a:custGeom>
              <a:avLst/>
              <a:gdLst/>
              <a:ahLst/>
              <a:cxnLst/>
              <a:rect l="l" t="t" r="r" b="b"/>
              <a:pathLst>
                <a:path w="1327939" h="189052">
                  <a:moveTo>
                    <a:pt x="66026" y="0"/>
                  </a:moveTo>
                  <a:lnTo>
                    <a:pt x="1261913" y="0"/>
                  </a:lnTo>
                  <a:cubicBezTo>
                    <a:pt x="1279424" y="0"/>
                    <a:pt x="1296218" y="6956"/>
                    <a:pt x="1308600" y="19338"/>
                  </a:cubicBezTo>
                  <a:cubicBezTo>
                    <a:pt x="1320982" y="31721"/>
                    <a:pt x="1327939" y="48515"/>
                    <a:pt x="1327939" y="66026"/>
                  </a:cubicBezTo>
                  <a:lnTo>
                    <a:pt x="1327939" y="123027"/>
                  </a:lnTo>
                  <a:cubicBezTo>
                    <a:pt x="1327939" y="140538"/>
                    <a:pt x="1320982" y="157332"/>
                    <a:pt x="1308600" y="169714"/>
                  </a:cubicBezTo>
                  <a:cubicBezTo>
                    <a:pt x="1296218" y="182096"/>
                    <a:pt x="1279424" y="189052"/>
                    <a:pt x="1261913" y="189052"/>
                  </a:cubicBezTo>
                  <a:lnTo>
                    <a:pt x="66026" y="189052"/>
                  </a:lnTo>
                  <a:cubicBezTo>
                    <a:pt x="48515" y="189052"/>
                    <a:pt x="31721" y="182096"/>
                    <a:pt x="19338" y="169714"/>
                  </a:cubicBezTo>
                  <a:cubicBezTo>
                    <a:pt x="6956" y="157332"/>
                    <a:pt x="0" y="140538"/>
                    <a:pt x="0" y="123027"/>
                  </a:cubicBezTo>
                  <a:lnTo>
                    <a:pt x="0" y="66026"/>
                  </a:lnTo>
                  <a:cubicBezTo>
                    <a:pt x="0" y="48515"/>
                    <a:pt x="6956" y="31721"/>
                    <a:pt x="19338" y="19338"/>
                  </a:cubicBezTo>
                  <a:cubicBezTo>
                    <a:pt x="31721" y="6956"/>
                    <a:pt x="48515" y="0"/>
                    <a:pt x="66026" y="0"/>
                  </a:cubicBezTo>
                  <a:close/>
                </a:path>
              </a:pathLst>
            </a:custGeom>
            <a:solidFill>
              <a:srgbClr val="0463B5"/>
            </a:solidFill>
          </p:spPr>
        </p:sp>
        <p:sp>
          <p:nvSpPr>
            <p:cNvPr id="24" name="TextBox 24"/>
            <p:cNvSpPr txBox="1"/>
            <p:nvPr/>
          </p:nvSpPr>
          <p:spPr>
            <a:xfrm>
              <a:off x="0" y="66675"/>
              <a:ext cx="1327939" cy="122377"/>
            </a:xfrm>
            <a:prstGeom prst="rect">
              <a:avLst/>
            </a:prstGeom>
          </p:spPr>
          <p:txBody>
            <a:bodyPr lIns="50800" tIns="50800" rIns="50800" bIns="50800" rtlCol="0" anchor="ctr"/>
            <a:lstStyle/>
            <a:p>
              <a:pPr algn="ctr">
                <a:lnSpc>
                  <a:spcPts val="3281"/>
                </a:lnSpc>
              </a:pPr>
              <a:r>
                <a:rPr lang="en-US" sz="3281" spc="49">
                  <a:solidFill>
                    <a:srgbClr val="FFFFFF"/>
                  </a:solidFill>
                  <a:latin typeface="Assistant"/>
                  <a:ea typeface="Assistant"/>
                  <a:cs typeface="Assistant"/>
                  <a:sym typeface="Assistant"/>
                </a:rPr>
                <a:t>Creation of Map </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332527" y="1816606"/>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dirty="0"/>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7259300" y="-2092064"/>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7094522" y="3760906"/>
            <a:ext cx="8623491" cy="8750775"/>
          </a:xfrm>
          <a:custGeom>
            <a:avLst/>
            <a:gdLst/>
            <a:ahLst/>
            <a:cxnLst/>
            <a:rect l="l" t="t" r="r" b="b"/>
            <a:pathLst>
              <a:path w="8623491" h="8750775">
                <a:moveTo>
                  <a:pt x="0" y="0"/>
                </a:moveTo>
                <a:lnTo>
                  <a:pt x="8623492" y="0"/>
                </a:lnTo>
                <a:lnTo>
                  <a:pt x="8623492"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2127238" y="2127963"/>
            <a:ext cx="6514376" cy="3265887"/>
            <a:chOff x="0" y="0"/>
            <a:chExt cx="1715721" cy="860151"/>
          </a:xfrm>
        </p:grpSpPr>
        <p:sp>
          <p:nvSpPr>
            <p:cNvPr id="9" name="Freeform 9"/>
            <p:cNvSpPr/>
            <p:nvPr/>
          </p:nvSpPr>
          <p:spPr>
            <a:xfrm>
              <a:off x="0" y="0"/>
              <a:ext cx="1715720" cy="860151"/>
            </a:xfrm>
            <a:custGeom>
              <a:avLst/>
              <a:gdLst/>
              <a:ahLst/>
              <a:cxnLst/>
              <a:rect l="l" t="t" r="r" b="b"/>
              <a:pathLst>
                <a:path w="1715720" h="860151">
                  <a:moveTo>
                    <a:pt x="51103" y="0"/>
                  </a:moveTo>
                  <a:lnTo>
                    <a:pt x="1664618" y="0"/>
                  </a:lnTo>
                  <a:cubicBezTo>
                    <a:pt x="1678171" y="0"/>
                    <a:pt x="1691169" y="5384"/>
                    <a:pt x="1700753" y="14968"/>
                  </a:cubicBezTo>
                  <a:cubicBezTo>
                    <a:pt x="1710336" y="24551"/>
                    <a:pt x="1715720" y="37549"/>
                    <a:pt x="1715720" y="51103"/>
                  </a:cubicBezTo>
                  <a:lnTo>
                    <a:pt x="1715720" y="809049"/>
                  </a:lnTo>
                  <a:cubicBezTo>
                    <a:pt x="1715720" y="822602"/>
                    <a:pt x="1710336" y="835600"/>
                    <a:pt x="1700753" y="845184"/>
                  </a:cubicBezTo>
                  <a:cubicBezTo>
                    <a:pt x="1691169" y="854767"/>
                    <a:pt x="1678171" y="860151"/>
                    <a:pt x="1664618" y="860151"/>
                  </a:cubicBezTo>
                  <a:lnTo>
                    <a:pt x="51103" y="860151"/>
                  </a:lnTo>
                  <a:cubicBezTo>
                    <a:pt x="37549" y="860151"/>
                    <a:pt x="24551" y="854767"/>
                    <a:pt x="14968" y="845184"/>
                  </a:cubicBezTo>
                  <a:cubicBezTo>
                    <a:pt x="5384" y="835600"/>
                    <a:pt x="0" y="822602"/>
                    <a:pt x="0" y="809049"/>
                  </a:cubicBezTo>
                  <a:lnTo>
                    <a:pt x="0" y="51103"/>
                  </a:lnTo>
                  <a:cubicBezTo>
                    <a:pt x="0" y="37549"/>
                    <a:pt x="5384" y="24551"/>
                    <a:pt x="14968" y="14968"/>
                  </a:cubicBezTo>
                  <a:cubicBezTo>
                    <a:pt x="24551" y="5384"/>
                    <a:pt x="37549" y="0"/>
                    <a:pt x="51103" y="0"/>
                  </a:cubicBezTo>
                  <a:close/>
                </a:path>
              </a:pathLst>
            </a:custGeom>
            <a:solidFill>
              <a:srgbClr val="0463B5"/>
            </a:solidFill>
          </p:spPr>
        </p:sp>
        <p:sp>
          <p:nvSpPr>
            <p:cNvPr id="10" name="TextBox 10"/>
            <p:cNvSpPr txBox="1"/>
            <p:nvPr/>
          </p:nvSpPr>
          <p:spPr>
            <a:xfrm>
              <a:off x="0" y="66675"/>
              <a:ext cx="1715721" cy="793476"/>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Week 1- Reconnaissance</a:t>
              </a:r>
            </a:p>
            <a:p>
              <a:pPr algn="ctr">
                <a:lnSpc>
                  <a:spcPts val="3281"/>
                </a:lnSpc>
              </a:pPr>
              <a:endParaRPr lang="en-US" sz="3281" spc="49" dirty="0">
                <a:solidFill>
                  <a:srgbClr val="FFFFFF"/>
                </a:solidFill>
                <a:latin typeface="Assistant"/>
                <a:ea typeface="Assistant"/>
                <a:cs typeface="Assistant"/>
                <a:sym typeface="Assistant"/>
              </a:endParaRPr>
            </a:p>
            <a:p>
              <a:pPr algn="just">
                <a:lnSpc>
                  <a:spcPts val="2881"/>
                </a:lnSpc>
              </a:pPr>
              <a:r>
                <a:rPr lang="en-US" sz="2881" spc="43" dirty="0">
                  <a:solidFill>
                    <a:srgbClr val="FFFFFF"/>
                  </a:solidFill>
                  <a:latin typeface="Assistant"/>
                  <a:ea typeface="Assistant"/>
                  <a:cs typeface="Assistant"/>
                  <a:sym typeface="Assistant"/>
                </a:rPr>
                <a:t>We began by exploring the assigned area, After some careful searching we have identified five change points and marked them with paint </a:t>
              </a:r>
            </a:p>
          </p:txBody>
        </p:sp>
      </p:grpSp>
      <p:sp>
        <p:nvSpPr>
          <p:cNvPr id="11" name="TextBox 11"/>
          <p:cNvSpPr txBox="1"/>
          <p:nvPr/>
        </p:nvSpPr>
        <p:spPr>
          <a:xfrm>
            <a:off x="1768806" y="5722779"/>
            <a:ext cx="15622946" cy="617280"/>
          </a:xfrm>
          <a:prstGeom prst="rect">
            <a:avLst/>
          </a:prstGeom>
        </p:spPr>
        <p:txBody>
          <a:bodyPr lIns="0" tIns="0" rIns="0" bIns="0" rtlCol="0" anchor="t">
            <a:spAutoFit/>
          </a:bodyPr>
          <a:lstStyle/>
          <a:p>
            <a:pPr algn="ctr">
              <a:lnSpc>
                <a:spcPts val="4320"/>
              </a:lnSpc>
            </a:pPr>
            <a:r>
              <a:rPr lang="en-US" sz="5401" dirty="0">
                <a:solidFill>
                  <a:srgbClr val="0D1C38"/>
                </a:solidFill>
                <a:latin typeface="Roca One"/>
                <a:ea typeface="Roca One"/>
                <a:cs typeface="Roca One"/>
                <a:sym typeface="Roca One"/>
              </a:rPr>
              <a:t>WORK-FLOW</a:t>
            </a:r>
          </a:p>
        </p:txBody>
      </p:sp>
      <p:grpSp>
        <p:nvGrpSpPr>
          <p:cNvPr id="12" name="Group 12"/>
          <p:cNvGrpSpPr/>
          <p:nvPr/>
        </p:nvGrpSpPr>
        <p:grpSpPr>
          <a:xfrm>
            <a:off x="2127238" y="6340058"/>
            <a:ext cx="6514376" cy="3299429"/>
            <a:chOff x="0" y="0"/>
            <a:chExt cx="1715721" cy="868985"/>
          </a:xfrm>
        </p:grpSpPr>
        <p:sp>
          <p:nvSpPr>
            <p:cNvPr id="13" name="Freeform 13"/>
            <p:cNvSpPr/>
            <p:nvPr/>
          </p:nvSpPr>
          <p:spPr>
            <a:xfrm>
              <a:off x="0" y="0"/>
              <a:ext cx="1715720" cy="868985"/>
            </a:xfrm>
            <a:custGeom>
              <a:avLst/>
              <a:gdLst/>
              <a:ahLst/>
              <a:cxnLst/>
              <a:rect l="l" t="t" r="r" b="b"/>
              <a:pathLst>
                <a:path w="1715720" h="868985">
                  <a:moveTo>
                    <a:pt x="51103" y="0"/>
                  </a:moveTo>
                  <a:lnTo>
                    <a:pt x="1664618" y="0"/>
                  </a:lnTo>
                  <a:cubicBezTo>
                    <a:pt x="1678171" y="0"/>
                    <a:pt x="1691169" y="5384"/>
                    <a:pt x="1700753" y="14968"/>
                  </a:cubicBezTo>
                  <a:cubicBezTo>
                    <a:pt x="1710336" y="24551"/>
                    <a:pt x="1715720" y="37549"/>
                    <a:pt x="1715720" y="51103"/>
                  </a:cubicBezTo>
                  <a:lnTo>
                    <a:pt x="1715720" y="817883"/>
                  </a:lnTo>
                  <a:cubicBezTo>
                    <a:pt x="1715720" y="831436"/>
                    <a:pt x="1710336" y="844434"/>
                    <a:pt x="1700753" y="854018"/>
                  </a:cubicBezTo>
                  <a:cubicBezTo>
                    <a:pt x="1691169" y="863601"/>
                    <a:pt x="1678171" y="868985"/>
                    <a:pt x="1664618" y="868985"/>
                  </a:cubicBezTo>
                  <a:lnTo>
                    <a:pt x="51103" y="868985"/>
                  </a:lnTo>
                  <a:cubicBezTo>
                    <a:pt x="37549" y="868985"/>
                    <a:pt x="24551" y="863601"/>
                    <a:pt x="14968" y="854018"/>
                  </a:cubicBezTo>
                  <a:cubicBezTo>
                    <a:pt x="5384" y="844434"/>
                    <a:pt x="0" y="831436"/>
                    <a:pt x="0" y="817883"/>
                  </a:cubicBezTo>
                  <a:lnTo>
                    <a:pt x="0" y="51103"/>
                  </a:lnTo>
                  <a:cubicBezTo>
                    <a:pt x="0" y="37549"/>
                    <a:pt x="5384" y="24551"/>
                    <a:pt x="14968" y="14968"/>
                  </a:cubicBezTo>
                  <a:cubicBezTo>
                    <a:pt x="24551" y="5384"/>
                    <a:pt x="37549" y="0"/>
                    <a:pt x="51103" y="0"/>
                  </a:cubicBezTo>
                  <a:close/>
                </a:path>
              </a:pathLst>
            </a:custGeom>
            <a:solidFill>
              <a:srgbClr val="0463B5"/>
            </a:solidFill>
          </p:spPr>
        </p:sp>
        <p:sp>
          <p:nvSpPr>
            <p:cNvPr id="14" name="TextBox 14"/>
            <p:cNvSpPr txBox="1"/>
            <p:nvPr/>
          </p:nvSpPr>
          <p:spPr>
            <a:xfrm>
              <a:off x="0" y="66675"/>
              <a:ext cx="1715721" cy="802310"/>
            </a:xfrm>
            <a:prstGeom prst="rect">
              <a:avLst/>
            </a:prstGeom>
          </p:spPr>
          <p:txBody>
            <a:bodyPr lIns="50800" tIns="50800" rIns="50800" bIns="50800" rtlCol="0" anchor="ctr"/>
            <a:lstStyle/>
            <a:p>
              <a:pPr algn="ctr">
                <a:lnSpc>
                  <a:spcPts val="3281"/>
                </a:lnSpc>
              </a:pPr>
              <a:r>
                <a:rPr lang="en-US" sz="3281" spc="49">
                  <a:solidFill>
                    <a:srgbClr val="FFFFFF"/>
                  </a:solidFill>
                  <a:latin typeface="Assistant"/>
                  <a:ea typeface="Assistant"/>
                  <a:cs typeface="Assistant"/>
                  <a:sym typeface="Assistant"/>
                </a:rPr>
                <a:t>Week 2- Leveling</a:t>
              </a:r>
            </a:p>
            <a:p>
              <a:pPr algn="ctr">
                <a:lnSpc>
                  <a:spcPts val="3281"/>
                </a:lnSpc>
              </a:pPr>
              <a:endParaRPr lang="en-US" sz="3281" spc="49">
                <a:solidFill>
                  <a:srgbClr val="FFFFFF"/>
                </a:solidFill>
                <a:latin typeface="Assistant"/>
                <a:ea typeface="Assistant"/>
                <a:cs typeface="Assistant"/>
                <a:sym typeface="Assistant"/>
              </a:endParaRPr>
            </a:p>
            <a:p>
              <a:pPr algn="just">
                <a:lnSpc>
                  <a:spcPts val="2881"/>
                </a:lnSpc>
              </a:pPr>
              <a:r>
                <a:rPr lang="en-US" sz="2881" spc="43">
                  <a:solidFill>
                    <a:srgbClr val="FFFFFF"/>
                  </a:solidFill>
                  <a:latin typeface="Assistant"/>
                  <a:ea typeface="Assistant"/>
                  <a:cs typeface="Assistant"/>
                  <a:sym typeface="Assistant"/>
                </a:rPr>
                <a:t>We used an auto level to carry out leveling on the five Change Points , taking the benchmark near the GI lab for our reference</a:t>
              </a:r>
            </a:p>
          </p:txBody>
        </p:sp>
      </p:grpSp>
      <p:grpSp>
        <p:nvGrpSpPr>
          <p:cNvPr id="15" name="Group 15"/>
          <p:cNvGrpSpPr/>
          <p:nvPr/>
        </p:nvGrpSpPr>
        <p:grpSpPr>
          <a:xfrm>
            <a:off x="10347568" y="2127963"/>
            <a:ext cx="6514376" cy="3265887"/>
            <a:chOff x="0" y="0"/>
            <a:chExt cx="1715721" cy="860151"/>
          </a:xfrm>
        </p:grpSpPr>
        <p:sp>
          <p:nvSpPr>
            <p:cNvPr id="16" name="Freeform 16"/>
            <p:cNvSpPr/>
            <p:nvPr/>
          </p:nvSpPr>
          <p:spPr>
            <a:xfrm>
              <a:off x="0" y="0"/>
              <a:ext cx="1715720" cy="860151"/>
            </a:xfrm>
            <a:custGeom>
              <a:avLst/>
              <a:gdLst/>
              <a:ahLst/>
              <a:cxnLst/>
              <a:rect l="l" t="t" r="r" b="b"/>
              <a:pathLst>
                <a:path w="1715720" h="860151">
                  <a:moveTo>
                    <a:pt x="51103" y="0"/>
                  </a:moveTo>
                  <a:lnTo>
                    <a:pt x="1664618" y="0"/>
                  </a:lnTo>
                  <a:cubicBezTo>
                    <a:pt x="1678171" y="0"/>
                    <a:pt x="1691169" y="5384"/>
                    <a:pt x="1700753" y="14968"/>
                  </a:cubicBezTo>
                  <a:cubicBezTo>
                    <a:pt x="1710336" y="24551"/>
                    <a:pt x="1715720" y="37549"/>
                    <a:pt x="1715720" y="51103"/>
                  </a:cubicBezTo>
                  <a:lnTo>
                    <a:pt x="1715720" y="809049"/>
                  </a:lnTo>
                  <a:cubicBezTo>
                    <a:pt x="1715720" y="822602"/>
                    <a:pt x="1710336" y="835600"/>
                    <a:pt x="1700753" y="845184"/>
                  </a:cubicBezTo>
                  <a:cubicBezTo>
                    <a:pt x="1691169" y="854767"/>
                    <a:pt x="1678171" y="860151"/>
                    <a:pt x="1664618" y="860151"/>
                  </a:cubicBezTo>
                  <a:lnTo>
                    <a:pt x="51103" y="860151"/>
                  </a:lnTo>
                  <a:cubicBezTo>
                    <a:pt x="37549" y="860151"/>
                    <a:pt x="24551" y="854767"/>
                    <a:pt x="14968" y="845184"/>
                  </a:cubicBezTo>
                  <a:cubicBezTo>
                    <a:pt x="5384" y="835600"/>
                    <a:pt x="0" y="822602"/>
                    <a:pt x="0" y="809049"/>
                  </a:cubicBezTo>
                  <a:lnTo>
                    <a:pt x="0" y="51103"/>
                  </a:lnTo>
                  <a:cubicBezTo>
                    <a:pt x="0" y="37549"/>
                    <a:pt x="5384" y="24551"/>
                    <a:pt x="14968" y="14968"/>
                  </a:cubicBezTo>
                  <a:cubicBezTo>
                    <a:pt x="24551" y="5384"/>
                    <a:pt x="37549" y="0"/>
                    <a:pt x="51103" y="0"/>
                  </a:cubicBezTo>
                  <a:close/>
                </a:path>
              </a:pathLst>
            </a:custGeom>
            <a:solidFill>
              <a:srgbClr val="0463B5"/>
            </a:solidFill>
          </p:spPr>
        </p:sp>
        <p:sp>
          <p:nvSpPr>
            <p:cNvPr id="17" name="TextBox 17"/>
            <p:cNvSpPr txBox="1"/>
            <p:nvPr/>
          </p:nvSpPr>
          <p:spPr>
            <a:xfrm>
              <a:off x="0" y="66675"/>
              <a:ext cx="1715721" cy="793476"/>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Week 3 &amp; 4 - </a:t>
              </a:r>
              <a:r>
                <a:rPr lang="en-US" sz="3281" spc="49" dirty="0" err="1">
                  <a:solidFill>
                    <a:srgbClr val="FFFFFF"/>
                  </a:solidFill>
                  <a:latin typeface="Assistant"/>
                  <a:ea typeface="Assistant"/>
                  <a:cs typeface="Assistant"/>
                  <a:sym typeface="Assistant"/>
                </a:rPr>
                <a:t>Travesing</a:t>
              </a:r>
              <a:endParaRPr lang="en-US" sz="3281" spc="49" dirty="0">
                <a:solidFill>
                  <a:srgbClr val="FFFFFF"/>
                </a:solidFill>
                <a:latin typeface="Assistant"/>
                <a:ea typeface="Assistant"/>
                <a:cs typeface="Assistant"/>
                <a:sym typeface="Assistant"/>
              </a:endParaRPr>
            </a:p>
            <a:p>
              <a:pPr algn="ctr">
                <a:lnSpc>
                  <a:spcPts val="3281"/>
                </a:lnSpc>
              </a:pPr>
              <a:endParaRPr lang="en-US" sz="3281" spc="49" dirty="0">
                <a:solidFill>
                  <a:srgbClr val="FFFFFF"/>
                </a:solidFill>
                <a:latin typeface="Assistant"/>
                <a:ea typeface="Assistant"/>
                <a:cs typeface="Assistant"/>
                <a:sym typeface="Assistant"/>
              </a:endParaRPr>
            </a:p>
            <a:p>
              <a:pPr algn="just">
                <a:lnSpc>
                  <a:spcPts val="2881"/>
                </a:lnSpc>
              </a:pPr>
              <a:r>
                <a:rPr lang="en-US" sz="2881" spc="43" dirty="0">
                  <a:solidFill>
                    <a:srgbClr val="FFFFFF"/>
                  </a:solidFill>
                  <a:latin typeface="Assistant"/>
                  <a:ea typeface="Assistant"/>
                  <a:cs typeface="Assistant"/>
                  <a:sym typeface="Assistant"/>
                </a:rPr>
                <a:t>We spent two weeks doing </a:t>
              </a:r>
              <a:r>
                <a:rPr lang="en-US" sz="2881" spc="43" dirty="0" err="1">
                  <a:solidFill>
                    <a:srgbClr val="FFFFFF"/>
                  </a:solidFill>
                  <a:latin typeface="Assistant"/>
                  <a:ea typeface="Assistant"/>
                  <a:cs typeface="Assistant"/>
                  <a:sym typeface="Assistant"/>
                </a:rPr>
                <a:t>travesing</a:t>
              </a:r>
              <a:r>
                <a:rPr lang="en-US" sz="2881" spc="43" dirty="0">
                  <a:solidFill>
                    <a:srgbClr val="FFFFFF"/>
                  </a:solidFill>
                  <a:latin typeface="Assistant"/>
                  <a:ea typeface="Assistant"/>
                  <a:cs typeface="Assistant"/>
                  <a:sym typeface="Assistant"/>
                </a:rPr>
                <a:t> to measure the angles and distances between the control points </a:t>
              </a:r>
            </a:p>
          </p:txBody>
        </p:sp>
      </p:grpSp>
      <p:grpSp>
        <p:nvGrpSpPr>
          <p:cNvPr id="18" name="Group 18"/>
          <p:cNvGrpSpPr/>
          <p:nvPr/>
        </p:nvGrpSpPr>
        <p:grpSpPr>
          <a:xfrm>
            <a:off x="10347568" y="6340058"/>
            <a:ext cx="6283175" cy="3299429"/>
            <a:chOff x="0" y="0"/>
            <a:chExt cx="1654828" cy="868985"/>
          </a:xfrm>
        </p:grpSpPr>
        <p:sp>
          <p:nvSpPr>
            <p:cNvPr id="19" name="Freeform 19"/>
            <p:cNvSpPr/>
            <p:nvPr/>
          </p:nvSpPr>
          <p:spPr>
            <a:xfrm>
              <a:off x="0" y="0"/>
              <a:ext cx="1654828" cy="868985"/>
            </a:xfrm>
            <a:custGeom>
              <a:avLst/>
              <a:gdLst/>
              <a:ahLst/>
              <a:cxnLst/>
              <a:rect l="l" t="t" r="r" b="b"/>
              <a:pathLst>
                <a:path w="1654828" h="868985">
                  <a:moveTo>
                    <a:pt x="52983" y="0"/>
                  </a:moveTo>
                  <a:lnTo>
                    <a:pt x="1601845" y="0"/>
                  </a:lnTo>
                  <a:cubicBezTo>
                    <a:pt x="1631106" y="0"/>
                    <a:pt x="1654828" y="23721"/>
                    <a:pt x="1654828" y="52983"/>
                  </a:cubicBezTo>
                  <a:lnTo>
                    <a:pt x="1654828" y="816002"/>
                  </a:lnTo>
                  <a:cubicBezTo>
                    <a:pt x="1654828" y="845264"/>
                    <a:pt x="1631106" y="868985"/>
                    <a:pt x="1601845" y="868985"/>
                  </a:cubicBezTo>
                  <a:lnTo>
                    <a:pt x="52983" y="868985"/>
                  </a:lnTo>
                  <a:cubicBezTo>
                    <a:pt x="23721" y="868985"/>
                    <a:pt x="0" y="845264"/>
                    <a:pt x="0" y="816002"/>
                  </a:cubicBezTo>
                  <a:lnTo>
                    <a:pt x="0" y="52983"/>
                  </a:lnTo>
                  <a:cubicBezTo>
                    <a:pt x="0" y="23721"/>
                    <a:pt x="23721" y="0"/>
                    <a:pt x="52983" y="0"/>
                  </a:cubicBezTo>
                  <a:close/>
                </a:path>
              </a:pathLst>
            </a:custGeom>
            <a:solidFill>
              <a:srgbClr val="0463B5"/>
            </a:solidFill>
          </p:spPr>
        </p:sp>
        <p:sp>
          <p:nvSpPr>
            <p:cNvPr id="20" name="TextBox 20"/>
            <p:cNvSpPr txBox="1"/>
            <p:nvPr/>
          </p:nvSpPr>
          <p:spPr>
            <a:xfrm>
              <a:off x="0" y="66675"/>
              <a:ext cx="1654828" cy="802310"/>
            </a:xfrm>
            <a:prstGeom prst="rect">
              <a:avLst/>
            </a:prstGeom>
          </p:spPr>
          <p:txBody>
            <a:bodyPr lIns="50800" tIns="50800" rIns="50800" bIns="50800" rtlCol="0" anchor="ctr"/>
            <a:lstStyle/>
            <a:p>
              <a:pPr algn="ctr">
                <a:lnSpc>
                  <a:spcPts val="3281"/>
                </a:lnSpc>
              </a:pPr>
              <a:r>
                <a:rPr lang="en-US" sz="3281" spc="49" dirty="0">
                  <a:solidFill>
                    <a:srgbClr val="FFFFFF"/>
                  </a:solidFill>
                  <a:latin typeface="Assistant"/>
                  <a:ea typeface="Assistant"/>
                  <a:cs typeface="Assistant"/>
                  <a:sym typeface="Assistant"/>
                </a:rPr>
                <a:t>Week 5 &amp; 6- Feature Mapping</a:t>
              </a:r>
            </a:p>
            <a:p>
              <a:pPr algn="ctr">
                <a:lnSpc>
                  <a:spcPts val="3281"/>
                </a:lnSpc>
              </a:pPr>
              <a:endParaRPr lang="en-US" sz="3281" spc="49" dirty="0">
                <a:solidFill>
                  <a:srgbClr val="FFFFFF"/>
                </a:solidFill>
                <a:latin typeface="Assistant"/>
                <a:ea typeface="Assistant"/>
                <a:cs typeface="Assistant"/>
                <a:sym typeface="Assistant"/>
              </a:endParaRPr>
            </a:p>
            <a:p>
              <a:pPr algn="just">
                <a:lnSpc>
                  <a:spcPts val="2881"/>
                </a:lnSpc>
              </a:pPr>
              <a:r>
                <a:rPr lang="en-US" sz="2881" spc="43" dirty="0">
                  <a:solidFill>
                    <a:srgbClr val="FFFFFF"/>
                  </a:solidFill>
                  <a:latin typeface="Assistant"/>
                  <a:ea typeface="Assistant"/>
                  <a:cs typeface="Assistant"/>
                  <a:sym typeface="Assistant"/>
                </a:rPr>
                <a:t>In the final two weeks, we worked on feature mapping at all the five CP </a:t>
              </a:r>
              <a:r>
                <a:rPr lang="en-US" sz="2881" spc="43" dirty="0" err="1">
                  <a:solidFill>
                    <a:srgbClr val="FFFFFF"/>
                  </a:solidFill>
                  <a:latin typeface="Assistant"/>
                  <a:ea typeface="Assistant"/>
                  <a:cs typeface="Assistant"/>
                  <a:sym typeface="Assistant"/>
                </a:rPr>
                <a:t>carefuly</a:t>
              </a:r>
              <a:r>
                <a:rPr lang="en-US" sz="2881" spc="43" dirty="0">
                  <a:solidFill>
                    <a:srgbClr val="FFFFFF"/>
                  </a:solidFill>
                  <a:latin typeface="Assistant"/>
                  <a:ea typeface="Assistant"/>
                  <a:cs typeface="Assistant"/>
                  <a:sym typeface="Assistant"/>
                </a:rPr>
                <a:t> marking the locations of trees, lamps, electric poles and the </a:t>
              </a:r>
              <a:r>
                <a:rPr lang="en-US" sz="2881" spc="43" dirty="0" err="1">
                  <a:solidFill>
                    <a:srgbClr val="FFFFFF"/>
                  </a:solidFill>
                  <a:latin typeface="Assistant"/>
                  <a:ea typeface="Assistant"/>
                  <a:cs typeface="Assistant"/>
                  <a:sym typeface="Assistant"/>
                </a:rPr>
                <a:t>buliding</a:t>
              </a:r>
              <a:r>
                <a:rPr lang="en-US" sz="2881" spc="43" dirty="0">
                  <a:solidFill>
                    <a:srgbClr val="FFFFFF"/>
                  </a:solidFill>
                  <a:latin typeface="Assistant"/>
                  <a:ea typeface="Assistant"/>
                  <a:cs typeface="Assistant"/>
                  <a:sym typeface="Assistant"/>
                </a:rPr>
                <a:t> to create a clear and </a:t>
              </a:r>
              <a:r>
                <a:rPr lang="en-US" sz="2881" spc="43" dirty="0" err="1">
                  <a:solidFill>
                    <a:srgbClr val="FFFFFF"/>
                  </a:solidFill>
                  <a:latin typeface="Assistant"/>
                  <a:ea typeface="Assistant"/>
                  <a:cs typeface="Assistant"/>
                  <a:sym typeface="Assistant"/>
                </a:rPr>
                <a:t>infromative</a:t>
              </a:r>
              <a:r>
                <a:rPr lang="en-US" sz="2881" spc="43" dirty="0">
                  <a:solidFill>
                    <a:srgbClr val="FFFFFF"/>
                  </a:solidFill>
                  <a:latin typeface="Assistant"/>
                  <a:ea typeface="Assistant"/>
                  <a:cs typeface="Assistant"/>
                  <a:sym typeface="Assistant"/>
                </a:rPr>
                <a:t> map.</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0459826" y="2750588"/>
            <a:ext cx="6067977" cy="6414499"/>
          </a:xfrm>
          <a:custGeom>
            <a:avLst/>
            <a:gdLst/>
            <a:ahLst/>
            <a:cxnLst/>
            <a:rect l="l" t="t" r="r" b="b"/>
            <a:pathLst>
              <a:path w="6067977" h="6414499">
                <a:moveTo>
                  <a:pt x="0" y="0"/>
                </a:moveTo>
                <a:lnTo>
                  <a:pt x="6067977" y="0"/>
                </a:lnTo>
                <a:lnTo>
                  <a:pt x="6067977" y="6414499"/>
                </a:lnTo>
                <a:lnTo>
                  <a:pt x="0" y="6414499"/>
                </a:lnTo>
                <a:lnTo>
                  <a:pt x="0" y="0"/>
                </a:lnTo>
                <a:close/>
              </a:path>
            </a:pathLst>
          </a:custGeom>
          <a:blipFill>
            <a:blip r:embed="rId7"/>
            <a:stretch>
              <a:fillRect/>
            </a:stretch>
          </a:blipFill>
        </p:spPr>
      </p:sp>
      <p:sp>
        <p:nvSpPr>
          <p:cNvPr id="10" name="TextBox 10"/>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Reconnaissance</a:t>
            </a:r>
          </a:p>
        </p:txBody>
      </p:sp>
      <p:sp>
        <p:nvSpPr>
          <p:cNvPr id="11" name="TextBox 11"/>
          <p:cNvSpPr txBox="1"/>
          <p:nvPr/>
        </p:nvSpPr>
        <p:spPr>
          <a:xfrm>
            <a:off x="2510520" y="2840043"/>
            <a:ext cx="7230704" cy="5480640"/>
          </a:xfrm>
          <a:prstGeom prst="rect">
            <a:avLst/>
          </a:prstGeom>
        </p:spPr>
        <p:txBody>
          <a:bodyPr lIns="0" tIns="0" rIns="0" bIns="0" rtlCol="0" anchor="t">
            <a:spAutoFit/>
          </a:bodyPr>
          <a:lstStyle/>
          <a:p>
            <a:pPr algn="just">
              <a:lnSpc>
                <a:spcPts val="3148"/>
              </a:lnSpc>
            </a:pPr>
            <a:r>
              <a:rPr lang="en-US" sz="3148">
                <a:solidFill>
                  <a:srgbClr val="0D1C38"/>
                </a:solidFill>
                <a:latin typeface="Assistant"/>
                <a:ea typeface="Assistant"/>
                <a:cs typeface="Assistant"/>
                <a:sym typeface="Assistant"/>
              </a:rPr>
              <a:t>Before establishing our control network, we </a:t>
            </a:r>
            <a:r>
              <a:rPr lang="en-US" sz="3148" b="1">
                <a:solidFill>
                  <a:srgbClr val="0D1C38"/>
                </a:solidFill>
                <a:latin typeface="Assistant Bold"/>
                <a:ea typeface="Assistant Bold"/>
                <a:cs typeface="Assistant Bold"/>
                <a:sym typeface="Assistant Bold"/>
              </a:rPr>
              <a:t>explored </a:t>
            </a:r>
            <a:r>
              <a:rPr lang="en-US" sz="3148">
                <a:solidFill>
                  <a:srgbClr val="0D1C38"/>
                </a:solidFill>
                <a:latin typeface="Assistant"/>
                <a:ea typeface="Assistant"/>
                <a:cs typeface="Assistant"/>
                <a:sym typeface="Assistant"/>
              </a:rPr>
              <a:t>the survey area.  </a:t>
            </a:r>
          </a:p>
          <a:p>
            <a:pPr algn="just">
              <a:lnSpc>
                <a:spcPts val="3148"/>
              </a:lnSpc>
            </a:pPr>
            <a:endParaRPr lang="en-US" sz="3148">
              <a:solidFill>
                <a:srgbClr val="0D1C38"/>
              </a:solidFill>
              <a:latin typeface="Assistant"/>
              <a:ea typeface="Assistant"/>
              <a:cs typeface="Assistant"/>
              <a:sym typeface="Assistant"/>
            </a:endParaRPr>
          </a:p>
          <a:p>
            <a:pPr algn="just">
              <a:lnSpc>
                <a:spcPts val="3148"/>
              </a:lnSpc>
            </a:pPr>
            <a:r>
              <a:rPr lang="en-US" sz="3148">
                <a:solidFill>
                  <a:srgbClr val="0D1C38"/>
                </a:solidFill>
                <a:latin typeface="Assistant"/>
                <a:ea typeface="Assistant"/>
                <a:cs typeface="Assistant"/>
                <a:sym typeface="Assistant"/>
              </a:rPr>
              <a:t>This helped us in setting up </a:t>
            </a:r>
            <a:r>
              <a:rPr lang="en-US" sz="3148" b="1">
                <a:solidFill>
                  <a:srgbClr val="0D1C38"/>
                </a:solidFill>
                <a:latin typeface="Assistant Bold"/>
                <a:ea typeface="Assistant Bold"/>
                <a:cs typeface="Assistant Bold"/>
                <a:sym typeface="Assistant Bold"/>
              </a:rPr>
              <a:t>control points</a:t>
            </a:r>
            <a:r>
              <a:rPr lang="en-US" sz="3148">
                <a:solidFill>
                  <a:srgbClr val="0D1C38"/>
                </a:solidFill>
                <a:latin typeface="Assistant"/>
                <a:ea typeface="Assistant"/>
                <a:cs typeface="Assistant"/>
                <a:sym typeface="Assistant"/>
              </a:rPr>
              <a:t> at the most suitable locations, considering </a:t>
            </a:r>
          </a:p>
          <a:p>
            <a:pPr algn="just">
              <a:lnSpc>
                <a:spcPts val="3148"/>
              </a:lnSpc>
            </a:pPr>
            <a:endParaRPr lang="en-US" sz="3148">
              <a:solidFill>
                <a:srgbClr val="0D1C38"/>
              </a:solidFill>
              <a:latin typeface="Assistant"/>
              <a:ea typeface="Assistant"/>
              <a:cs typeface="Assistant"/>
              <a:sym typeface="Assistant"/>
            </a:endParaRPr>
          </a:p>
          <a:p>
            <a:pPr algn="just">
              <a:lnSpc>
                <a:spcPts val="3148"/>
              </a:lnSpc>
            </a:pPr>
            <a:r>
              <a:rPr lang="en-US" sz="3148" spc="47">
                <a:solidFill>
                  <a:srgbClr val="0D1C38"/>
                </a:solidFill>
                <a:latin typeface="Assistant"/>
                <a:ea typeface="Assistant"/>
                <a:cs typeface="Assistant"/>
                <a:sym typeface="Assistant"/>
              </a:rPr>
              <a:t>• Features in the area</a:t>
            </a:r>
          </a:p>
          <a:p>
            <a:pPr algn="just">
              <a:lnSpc>
                <a:spcPts val="3148"/>
              </a:lnSpc>
            </a:pPr>
            <a:r>
              <a:rPr lang="en-US" sz="3148" spc="47">
                <a:solidFill>
                  <a:srgbClr val="0D1C38"/>
                </a:solidFill>
                <a:latin typeface="Assistant"/>
                <a:ea typeface="Assistant"/>
                <a:cs typeface="Assistant"/>
                <a:sym typeface="Assistant"/>
              </a:rPr>
              <a:t>• Inter-visibility </a:t>
            </a:r>
          </a:p>
          <a:p>
            <a:pPr algn="just">
              <a:lnSpc>
                <a:spcPts val="3148"/>
              </a:lnSpc>
            </a:pPr>
            <a:r>
              <a:rPr lang="en-US" sz="3148" spc="47">
                <a:solidFill>
                  <a:srgbClr val="0D1C38"/>
                </a:solidFill>
                <a:latin typeface="Assistant"/>
                <a:ea typeface="Assistant"/>
                <a:cs typeface="Assistant"/>
                <a:sym typeface="Assistant"/>
              </a:rPr>
              <a:t>• Points being open to the sky </a:t>
            </a:r>
          </a:p>
          <a:p>
            <a:pPr algn="just">
              <a:lnSpc>
                <a:spcPts val="3148"/>
              </a:lnSpc>
            </a:pPr>
            <a:endParaRPr lang="en-US" sz="3148" spc="47">
              <a:solidFill>
                <a:srgbClr val="0D1C38"/>
              </a:solidFill>
              <a:latin typeface="Assistant"/>
              <a:ea typeface="Assistant"/>
              <a:cs typeface="Assistant"/>
              <a:sym typeface="Assistant"/>
            </a:endParaRPr>
          </a:p>
          <a:p>
            <a:pPr algn="just">
              <a:lnSpc>
                <a:spcPts val="3148"/>
              </a:lnSpc>
            </a:pPr>
            <a:r>
              <a:rPr lang="en-US" sz="3148" spc="47">
                <a:solidFill>
                  <a:srgbClr val="0D1C38"/>
                </a:solidFill>
                <a:latin typeface="Assistant"/>
                <a:ea typeface="Assistant"/>
                <a:cs typeface="Assistant"/>
                <a:sym typeface="Assistant"/>
              </a:rPr>
              <a:t>We finalized </a:t>
            </a:r>
            <a:r>
              <a:rPr lang="en-US" sz="3148" b="1" spc="47">
                <a:solidFill>
                  <a:srgbClr val="0D1C38"/>
                </a:solidFill>
                <a:latin typeface="Assistant Bold"/>
                <a:ea typeface="Assistant Bold"/>
                <a:cs typeface="Assistant Bold"/>
                <a:sym typeface="Assistant Bold"/>
              </a:rPr>
              <a:t>5</a:t>
            </a:r>
            <a:r>
              <a:rPr lang="en-US" sz="3148" spc="47">
                <a:solidFill>
                  <a:srgbClr val="0D1C38"/>
                </a:solidFill>
                <a:latin typeface="Assistant"/>
                <a:ea typeface="Assistant"/>
                <a:cs typeface="Assistant"/>
                <a:sym typeface="Assistant"/>
              </a:rPr>
              <a:t> control points, all necessary for plotting the various features present in the area, including trees and infrastructure.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Levelling</a:t>
            </a:r>
          </a:p>
        </p:txBody>
      </p:sp>
      <p:sp>
        <p:nvSpPr>
          <p:cNvPr id="10" name="TextBox 10"/>
          <p:cNvSpPr txBox="1"/>
          <p:nvPr/>
        </p:nvSpPr>
        <p:spPr>
          <a:xfrm>
            <a:off x="2221974" y="2614086"/>
            <a:ext cx="13858648" cy="6261690"/>
          </a:xfrm>
          <a:prstGeom prst="rect">
            <a:avLst/>
          </a:prstGeom>
        </p:spPr>
        <p:txBody>
          <a:bodyPr lIns="0" tIns="0" rIns="0" bIns="0" rtlCol="0" anchor="t">
            <a:spAutoFit/>
          </a:bodyPr>
          <a:lstStyle/>
          <a:p>
            <a:pPr algn="just">
              <a:lnSpc>
                <a:spcPts val="3148"/>
              </a:lnSpc>
            </a:pPr>
            <a:r>
              <a:rPr lang="en-US" sz="3148">
                <a:solidFill>
                  <a:srgbClr val="0D1C38"/>
                </a:solidFill>
                <a:latin typeface="Assistant"/>
                <a:ea typeface="Assistant"/>
                <a:cs typeface="Assistant"/>
                <a:sym typeface="Assistant"/>
              </a:rPr>
              <a:t>Before starting the detailed survey, we conducted levelling to determine the relative heights of different points in the area.</a:t>
            </a:r>
          </a:p>
          <a:p>
            <a:pPr algn="just">
              <a:lnSpc>
                <a:spcPts val="3148"/>
              </a:lnSpc>
            </a:pPr>
            <a:endParaRPr lang="en-US" sz="3148">
              <a:solidFill>
                <a:srgbClr val="0D1C38"/>
              </a:solidFill>
              <a:latin typeface="Assistant"/>
              <a:ea typeface="Assistant"/>
              <a:cs typeface="Assistant"/>
              <a:sym typeface="Assistant"/>
            </a:endParaRPr>
          </a:p>
          <a:p>
            <a:pPr algn="just">
              <a:lnSpc>
                <a:spcPts val="3148"/>
              </a:lnSpc>
            </a:pPr>
            <a:r>
              <a:rPr lang="en-US" sz="3148">
                <a:solidFill>
                  <a:srgbClr val="0D1C38"/>
                </a:solidFill>
                <a:latin typeface="Assistant"/>
                <a:ea typeface="Assistant"/>
                <a:cs typeface="Assistant"/>
                <a:sym typeface="Assistant"/>
              </a:rPr>
              <a:t>This process helped us establish a benchmark and maintain accuracy in plotting the terrain profile.</a:t>
            </a:r>
          </a:p>
          <a:p>
            <a:pPr algn="just">
              <a:lnSpc>
                <a:spcPts val="3148"/>
              </a:lnSpc>
            </a:pPr>
            <a:endParaRPr lang="en-US" sz="3148">
              <a:solidFill>
                <a:srgbClr val="0D1C38"/>
              </a:solidFill>
              <a:latin typeface="Assistant"/>
              <a:ea typeface="Assistant"/>
              <a:cs typeface="Assistant"/>
              <a:sym typeface="Assistant"/>
            </a:endParaRPr>
          </a:p>
          <a:p>
            <a:pPr algn="just">
              <a:lnSpc>
                <a:spcPts val="3148"/>
              </a:lnSpc>
            </a:pPr>
            <a:r>
              <a:rPr lang="en-US" sz="3148" b="1">
                <a:solidFill>
                  <a:srgbClr val="0D1C38"/>
                </a:solidFill>
                <a:latin typeface="Assistant Bold"/>
                <a:ea typeface="Assistant Bold"/>
                <a:cs typeface="Assistant Bold"/>
                <a:sym typeface="Assistant Bold"/>
              </a:rPr>
              <a:t>Key Steps:</a:t>
            </a:r>
          </a:p>
          <a:p>
            <a:pPr marL="679706" lvl="1" indent="-339853" algn="just">
              <a:lnSpc>
                <a:spcPts val="3148"/>
              </a:lnSpc>
              <a:buFont typeface="Arial"/>
              <a:buChar char="•"/>
            </a:pPr>
            <a:r>
              <a:rPr lang="en-US" sz="3148">
                <a:solidFill>
                  <a:srgbClr val="0D1C38"/>
                </a:solidFill>
                <a:latin typeface="Assistant"/>
                <a:ea typeface="Assistant"/>
                <a:cs typeface="Assistant"/>
                <a:sym typeface="Assistant"/>
              </a:rPr>
              <a:t>Selected a </a:t>
            </a:r>
            <a:r>
              <a:rPr lang="en-US" sz="3148" b="1">
                <a:solidFill>
                  <a:srgbClr val="0D1C38"/>
                </a:solidFill>
                <a:latin typeface="Assistant Bold"/>
                <a:ea typeface="Assistant Bold"/>
                <a:cs typeface="Assistant Bold"/>
                <a:sym typeface="Assistant Bold"/>
              </a:rPr>
              <a:t>benchmark (BM)</a:t>
            </a:r>
            <a:r>
              <a:rPr lang="en-US" sz="3148">
                <a:solidFill>
                  <a:srgbClr val="0D1C38"/>
                </a:solidFill>
                <a:latin typeface="Assistant"/>
                <a:ea typeface="Assistant"/>
                <a:cs typeface="Assistant"/>
                <a:sym typeface="Assistant"/>
              </a:rPr>
              <a:t> near the GI lab.</a:t>
            </a:r>
          </a:p>
          <a:p>
            <a:pPr marL="679706" lvl="1" indent="-339853" algn="just">
              <a:lnSpc>
                <a:spcPts val="3148"/>
              </a:lnSpc>
              <a:buFont typeface="Arial"/>
              <a:buChar char="•"/>
            </a:pPr>
            <a:r>
              <a:rPr lang="en-US" sz="3148" spc="-50">
                <a:solidFill>
                  <a:srgbClr val="0D1C38"/>
                </a:solidFill>
                <a:latin typeface="Assistant"/>
                <a:ea typeface="Assistant"/>
                <a:cs typeface="Assistant"/>
                <a:sym typeface="Assistant"/>
              </a:rPr>
              <a:t>Performed</a:t>
            </a:r>
            <a:r>
              <a:rPr lang="en-US" sz="3148" b="1" spc="-50">
                <a:solidFill>
                  <a:srgbClr val="0D1C38"/>
                </a:solidFill>
                <a:latin typeface="Assistant Bold"/>
                <a:ea typeface="Assistant Bold"/>
                <a:cs typeface="Assistant Bold"/>
                <a:sym typeface="Assistant Bold"/>
              </a:rPr>
              <a:t> levelling</a:t>
            </a:r>
            <a:r>
              <a:rPr lang="en-US" sz="3148" spc="-50">
                <a:solidFill>
                  <a:srgbClr val="0D1C38"/>
                </a:solidFill>
                <a:latin typeface="Assistant"/>
                <a:ea typeface="Assistant"/>
                <a:cs typeface="Assistant"/>
                <a:sym typeface="Assistant"/>
              </a:rPr>
              <a:t> to transfer the RLs (Reduced Levels) to all control points.</a:t>
            </a:r>
          </a:p>
          <a:p>
            <a:pPr marL="679706" lvl="1" indent="-339853" algn="just">
              <a:lnSpc>
                <a:spcPts val="3148"/>
              </a:lnSpc>
              <a:buFont typeface="Arial"/>
              <a:buChar char="•"/>
            </a:pPr>
            <a:r>
              <a:rPr lang="en-US" sz="3148">
                <a:solidFill>
                  <a:srgbClr val="0D1C38"/>
                </a:solidFill>
                <a:latin typeface="Assistant"/>
                <a:ea typeface="Assistant"/>
                <a:cs typeface="Assistant"/>
                <a:sym typeface="Assistant"/>
              </a:rPr>
              <a:t>Ensured proper </a:t>
            </a:r>
            <a:r>
              <a:rPr lang="en-US" sz="3148" b="1">
                <a:solidFill>
                  <a:srgbClr val="0D1C38"/>
                </a:solidFill>
                <a:latin typeface="Assistant Bold"/>
                <a:ea typeface="Assistant Bold"/>
                <a:cs typeface="Assistant Bold"/>
                <a:sym typeface="Assistant Bold"/>
              </a:rPr>
              <a:t>back sight</a:t>
            </a:r>
            <a:r>
              <a:rPr lang="en-US" sz="3148">
                <a:solidFill>
                  <a:srgbClr val="0D1C38"/>
                </a:solidFill>
                <a:latin typeface="Assistant"/>
                <a:ea typeface="Assistant"/>
                <a:cs typeface="Assistant"/>
                <a:sym typeface="Assistant"/>
              </a:rPr>
              <a:t> and </a:t>
            </a:r>
            <a:r>
              <a:rPr lang="en-US" sz="3148" b="1">
                <a:solidFill>
                  <a:srgbClr val="0D1C38"/>
                </a:solidFill>
                <a:latin typeface="Assistant Bold"/>
                <a:ea typeface="Assistant Bold"/>
                <a:cs typeface="Assistant Bold"/>
                <a:sym typeface="Assistant Bold"/>
              </a:rPr>
              <a:t>fore sight</a:t>
            </a:r>
            <a:r>
              <a:rPr lang="en-US" sz="3148">
                <a:solidFill>
                  <a:srgbClr val="0D1C38"/>
                </a:solidFill>
                <a:latin typeface="Assistant"/>
                <a:ea typeface="Assistant"/>
                <a:cs typeface="Assistant"/>
                <a:sym typeface="Assistant"/>
              </a:rPr>
              <a:t> readings for error minimization.</a:t>
            </a:r>
          </a:p>
          <a:p>
            <a:pPr marL="679706" lvl="1" indent="-339853" algn="just">
              <a:lnSpc>
                <a:spcPts val="3148"/>
              </a:lnSpc>
              <a:buFont typeface="Arial"/>
              <a:buChar char="•"/>
            </a:pPr>
            <a:r>
              <a:rPr lang="en-US" sz="3148">
                <a:solidFill>
                  <a:srgbClr val="0D1C38"/>
                </a:solidFill>
                <a:latin typeface="Assistant"/>
                <a:ea typeface="Assistant"/>
                <a:cs typeface="Assistant"/>
                <a:sym typeface="Assistant"/>
              </a:rPr>
              <a:t>Applied </a:t>
            </a:r>
            <a:r>
              <a:rPr lang="en-US" sz="3148" b="1">
                <a:solidFill>
                  <a:srgbClr val="0D1C38"/>
                </a:solidFill>
                <a:latin typeface="Assistant Bold"/>
                <a:ea typeface="Assistant Bold"/>
                <a:cs typeface="Assistant Bold"/>
                <a:sym typeface="Assistant Bold"/>
              </a:rPr>
              <a:t>arithmetical checks</a:t>
            </a:r>
            <a:r>
              <a:rPr lang="en-US" sz="3148">
                <a:solidFill>
                  <a:srgbClr val="0D1C38"/>
                </a:solidFill>
                <a:latin typeface="Assistant"/>
                <a:ea typeface="Assistant"/>
                <a:cs typeface="Assistant"/>
                <a:sym typeface="Assistant"/>
              </a:rPr>
              <a:t> to verify the accuracy of observations.</a:t>
            </a:r>
          </a:p>
          <a:p>
            <a:pPr algn="just">
              <a:lnSpc>
                <a:spcPts val="3148"/>
              </a:lnSpc>
            </a:pPr>
            <a:endParaRPr lang="en-US" sz="3148">
              <a:solidFill>
                <a:srgbClr val="0D1C38"/>
              </a:solidFill>
              <a:latin typeface="Assistant"/>
              <a:ea typeface="Assistant"/>
              <a:cs typeface="Assistant"/>
              <a:sym typeface="Assistant"/>
            </a:endParaRPr>
          </a:p>
          <a:p>
            <a:pPr algn="just">
              <a:lnSpc>
                <a:spcPts val="3148"/>
              </a:lnSpc>
            </a:pPr>
            <a:r>
              <a:rPr lang="en-US" sz="3148" b="1">
                <a:solidFill>
                  <a:srgbClr val="0D1C38"/>
                </a:solidFill>
                <a:latin typeface="Assistant Bold"/>
                <a:ea typeface="Assistant Bold"/>
                <a:cs typeface="Assistant Bold"/>
                <a:sym typeface="Assistant Bold"/>
              </a:rPr>
              <a:t>Outcome:</a:t>
            </a:r>
          </a:p>
          <a:p>
            <a:pPr algn="just">
              <a:lnSpc>
                <a:spcPts val="3148"/>
              </a:lnSpc>
            </a:pPr>
            <a:r>
              <a:rPr lang="en-US" sz="3148">
                <a:solidFill>
                  <a:srgbClr val="0D1C38"/>
                </a:solidFill>
                <a:latin typeface="Assistant"/>
                <a:ea typeface="Assistant"/>
                <a:cs typeface="Assistant"/>
                <a:sym typeface="Assistant"/>
              </a:rPr>
              <a:t>A precise elevation network was established, ensuring reliable height data for contouring and mapping.</a:t>
            </a:r>
          </a:p>
          <a:p>
            <a:pPr algn="just">
              <a:lnSpc>
                <a:spcPts val="3148"/>
              </a:lnSpc>
            </a:pPr>
            <a:endParaRPr lang="en-US" sz="3148">
              <a:solidFill>
                <a:srgbClr val="0D1C38"/>
              </a:solidFill>
              <a:latin typeface="Assistant"/>
              <a:ea typeface="Assistant"/>
              <a:cs typeface="Assistant"/>
              <a:sym typeface="Assistan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266687" y="3228012"/>
            <a:ext cx="15749011" cy="4015998"/>
          </a:xfrm>
          <a:custGeom>
            <a:avLst/>
            <a:gdLst/>
            <a:ahLst/>
            <a:cxnLst/>
            <a:rect l="l" t="t" r="r" b="b"/>
            <a:pathLst>
              <a:path w="15749011" h="4015998">
                <a:moveTo>
                  <a:pt x="0" y="0"/>
                </a:moveTo>
                <a:lnTo>
                  <a:pt x="15749011" y="0"/>
                </a:lnTo>
                <a:lnTo>
                  <a:pt x="15749011" y="4015998"/>
                </a:lnTo>
                <a:lnTo>
                  <a:pt x="0" y="4015998"/>
                </a:lnTo>
                <a:lnTo>
                  <a:pt x="0" y="0"/>
                </a:lnTo>
                <a:close/>
              </a:path>
            </a:pathLst>
          </a:custGeom>
          <a:blipFill>
            <a:blip r:embed="rId7"/>
            <a:stretch>
              <a:fillRect/>
            </a:stretch>
          </a:blipFill>
        </p:spPr>
      </p:sp>
      <p:sp>
        <p:nvSpPr>
          <p:cNvPr id="10" name="TextBox 10"/>
          <p:cNvSpPr txBox="1"/>
          <p:nvPr/>
        </p:nvSpPr>
        <p:spPr>
          <a:xfrm>
            <a:off x="1992267" y="1692680"/>
            <a:ext cx="14151264" cy="1092205"/>
          </a:xfrm>
          <a:prstGeom prst="rect">
            <a:avLst/>
          </a:prstGeom>
        </p:spPr>
        <p:txBody>
          <a:bodyPr lIns="0" tIns="0" rIns="0" bIns="0" rtlCol="0" anchor="t">
            <a:spAutoFit/>
          </a:bodyPr>
          <a:lstStyle/>
          <a:p>
            <a:pPr algn="ctr">
              <a:lnSpc>
                <a:spcPts val="7600"/>
              </a:lnSpc>
            </a:pPr>
            <a:r>
              <a:rPr lang="en-US" sz="9500">
                <a:solidFill>
                  <a:srgbClr val="0E182F"/>
                </a:solidFill>
                <a:latin typeface="Roca One"/>
                <a:ea typeface="Roca One"/>
                <a:cs typeface="Roca One"/>
                <a:sym typeface="Roca One"/>
              </a:rPr>
              <a:t>Data Sheet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TRAVERSING</a:t>
            </a:r>
          </a:p>
        </p:txBody>
      </p:sp>
      <p:sp>
        <p:nvSpPr>
          <p:cNvPr id="10" name="TextBox 10"/>
          <p:cNvSpPr txBox="1"/>
          <p:nvPr/>
        </p:nvSpPr>
        <p:spPr>
          <a:xfrm>
            <a:off x="2282090" y="3278506"/>
            <a:ext cx="13723820" cy="5340821"/>
          </a:xfrm>
          <a:prstGeom prst="rect">
            <a:avLst/>
          </a:prstGeom>
        </p:spPr>
        <p:txBody>
          <a:bodyPr lIns="0" tIns="0" rIns="0" bIns="0" rtlCol="0" anchor="t">
            <a:spAutoFit/>
          </a:bodyPr>
          <a:lstStyle/>
          <a:p>
            <a:pPr algn="just">
              <a:lnSpc>
                <a:spcPts val="3217"/>
              </a:lnSpc>
            </a:pPr>
            <a:r>
              <a:rPr lang="en-US" sz="3217" dirty="0">
                <a:solidFill>
                  <a:srgbClr val="0D1C38"/>
                </a:solidFill>
                <a:latin typeface="Assistant"/>
                <a:ea typeface="Assistant"/>
                <a:cs typeface="Assistant"/>
                <a:sym typeface="Assistant"/>
              </a:rPr>
              <a:t>Traversing was carried out to measure the </a:t>
            </a:r>
            <a:r>
              <a:rPr lang="en-US" sz="3217" b="1" dirty="0">
                <a:solidFill>
                  <a:srgbClr val="0D1C38"/>
                </a:solidFill>
                <a:latin typeface="Assistant Bold"/>
                <a:ea typeface="Assistant Bold"/>
                <a:cs typeface="Assistant Bold"/>
                <a:sym typeface="Assistant Bold"/>
              </a:rPr>
              <a:t>angles and distances</a:t>
            </a:r>
            <a:r>
              <a:rPr lang="en-US" sz="3217" dirty="0">
                <a:solidFill>
                  <a:srgbClr val="0D1C38"/>
                </a:solidFill>
                <a:latin typeface="Assistant"/>
                <a:ea typeface="Assistant"/>
                <a:cs typeface="Assistant"/>
                <a:sym typeface="Assistant"/>
              </a:rPr>
              <a:t> between control points for accurate mapping of the area.</a:t>
            </a:r>
          </a:p>
          <a:p>
            <a:pPr algn="just">
              <a:lnSpc>
                <a:spcPts val="3217"/>
              </a:lnSpc>
            </a:pPr>
            <a:endParaRPr lang="en-US" sz="3217" dirty="0">
              <a:solidFill>
                <a:srgbClr val="0D1C38"/>
              </a:solidFill>
              <a:latin typeface="Assistant"/>
              <a:ea typeface="Assistant"/>
              <a:cs typeface="Assistant"/>
              <a:sym typeface="Assistant"/>
            </a:endParaRPr>
          </a:p>
          <a:p>
            <a:pPr algn="just">
              <a:lnSpc>
                <a:spcPts val="3217"/>
              </a:lnSpc>
            </a:pPr>
            <a:r>
              <a:rPr lang="en-US" sz="3217" b="1" dirty="0">
                <a:solidFill>
                  <a:srgbClr val="0D1C38"/>
                </a:solidFill>
                <a:latin typeface="Assistant Bold"/>
                <a:ea typeface="Assistant Bold"/>
                <a:cs typeface="Assistant Bold"/>
                <a:sym typeface="Assistant Bold"/>
              </a:rPr>
              <a:t>Procedure</a:t>
            </a:r>
            <a:r>
              <a:rPr lang="en-US" sz="3217" dirty="0">
                <a:solidFill>
                  <a:srgbClr val="0D1C38"/>
                </a:solidFill>
                <a:latin typeface="Assistant"/>
                <a:ea typeface="Assistant"/>
                <a:cs typeface="Assistant"/>
                <a:sym typeface="Assistant"/>
              </a:rPr>
              <a:t>:</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The </a:t>
            </a:r>
            <a:r>
              <a:rPr lang="en-US" sz="3217" b="1" dirty="0">
                <a:solidFill>
                  <a:srgbClr val="0D1C38"/>
                </a:solidFill>
                <a:latin typeface="Assistant Bold"/>
                <a:ea typeface="Assistant Bold"/>
                <a:cs typeface="Assistant Bold"/>
                <a:sym typeface="Assistant Bold"/>
              </a:rPr>
              <a:t>Total Station</a:t>
            </a:r>
            <a:r>
              <a:rPr lang="en-US" sz="3217" dirty="0">
                <a:solidFill>
                  <a:srgbClr val="0D1C38"/>
                </a:solidFill>
                <a:latin typeface="Assistant"/>
                <a:ea typeface="Assistant"/>
                <a:cs typeface="Assistant"/>
                <a:sym typeface="Assistant"/>
              </a:rPr>
              <a:t> was </a:t>
            </a:r>
            <a:r>
              <a:rPr lang="en-US" sz="3217" b="1" dirty="0" err="1">
                <a:solidFill>
                  <a:srgbClr val="0D1C38"/>
                </a:solidFill>
                <a:latin typeface="Assistant Bold"/>
                <a:ea typeface="Assistant Bold"/>
                <a:cs typeface="Assistant Bold"/>
                <a:sym typeface="Assistant Bold"/>
              </a:rPr>
              <a:t>centred</a:t>
            </a:r>
            <a:r>
              <a:rPr lang="en-US" sz="3217" b="1" dirty="0">
                <a:solidFill>
                  <a:srgbClr val="0D1C38"/>
                </a:solidFill>
                <a:latin typeface="Assistant Bold"/>
                <a:ea typeface="Assistant Bold"/>
                <a:cs typeface="Assistant Bold"/>
                <a:sym typeface="Assistant Bold"/>
              </a:rPr>
              <a:t> and levelled</a:t>
            </a:r>
            <a:r>
              <a:rPr lang="en-US" sz="3217" dirty="0">
                <a:solidFill>
                  <a:srgbClr val="0D1C38"/>
                </a:solidFill>
                <a:latin typeface="Assistant"/>
                <a:ea typeface="Assistant"/>
                <a:cs typeface="Assistant"/>
                <a:sym typeface="Assistant"/>
              </a:rPr>
              <a:t> precisely at each change point.</a:t>
            </a:r>
          </a:p>
          <a:p>
            <a:pPr marL="694683" lvl="1" indent="-347341" algn="just">
              <a:lnSpc>
                <a:spcPts val="3217"/>
              </a:lnSpc>
              <a:buFont typeface="Arial"/>
              <a:buChar char="•"/>
            </a:pPr>
            <a:r>
              <a:rPr lang="en-US" sz="3217" b="1" spc="-28" dirty="0">
                <a:solidFill>
                  <a:srgbClr val="0D1C38"/>
                </a:solidFill>
                <a:latin typeface="Assistant Bold"/>
                <a:ea typeface="Assistant Bold"/>
                <a:cs typeface="Assistant Bold"/>
                <a:sym typeface="Assistant Bold"/>
              </a:rPr>
              <a:t>Bipod</a:t>
            </a:r>
            <a:r>
              <a:rPr lang="en-US" sz="3217" spc="-28" dirty="0">
                <a:solidFill>
                  <a:srgbClr val="0D1C38"/>
                </a:solidFill>
                <a:latin typeface="Assistant"/>
                <a:ea typeface="Assistant"/>
                <a:cs typeface="Assistant"/>
                <a:sym typeface="Assistant"/>
              </a:rPr>
              <a:t> and </a:t>
            </a:r>
            <a:r>
              <a:rPr lang="en-US" sz="3217" b="1" spc="-28" dirty="0">
                <a:solidFill>
                  <a:srgbClr val="0D1C38"/>
                </a:solidFill>
                <a:latin typeface="Assistant Bold"/>
                <a:ea typeface="Assistant Bold"/>
                <a:cs typeface="Assistant Bold"/>
                <a:sym typeface="Assistant Bold"/>
              </a:rPr>
              <a:t>prism</a:t>
            </a:r>
            <a:r>
              <a:rPr lang="en-US" sz="3217" spc="-28" dirty="0">
                <a:solidFill>
                  <a:srgbClr val="0D1C38"/>
                </a:solidFill>
                <a:latin typeface="Assistant"/>
                <a:ea typeface="Assistant"/>
                <a:cs typeface="Assistant"/>
                <a:sym typeface="Assistant"/>
              </a:rPr>
              <a:t> were used to take observations between consecutive points.</a:t>
            </a:r>
          </a:p>
          <a:p>
            <a:pPr marL="694683" lvl="1" indent="-347341" algn="just">
              <a:lnSpc>
                <a:spcPts val="3217"/>
              </a:lnSpc>
              <a:buFont typeface="Arial"/>
              <a:buChar char="•"/>
            </a:pPr>
            <a:r>
              <a:rPr lang="en-US" sz="3217" b="1" dirty="0">
                <a:solidFill>
                  <a:srgbClr val="0D1C38"/>
                </a:solidFill>
                <a:latin typeface="Assistant Bold"/>
                <a:ea typeface="Assistant Bold"/>
                <a:cs typeface="Assistant Bold"/>
                <a:sym typeface="Assistant Bold"/>
              </a:rPr>
              <a:t>Horizontal angles</a:t>
            </a:r>
            <a:r>
              <a:rPr lang="en-US" sz="3217" dirty="0">
                <a:solidFill>
                  <a:srgbClr val="0D1C38"/>
                </a:solidFill>
                <a:latin typeface="Assistant"/>
                <a:ea typeface="Assistant"/>
                <a:cs typeface="Assistant"/>
                <a:sym typeface="Assistant"/>
              </a:rPr>
              <a:t> along with</a:t>
            </a:r>
            <a:r>
              <a:rPr lang="en-US" sz="3217" b="1" dirty="0">
                <a:solidFill>
                  <a:srgbClr val="0D1C38"/>
                </a:solidFill>
                <a:latin typeface="Assistant Bold"/>
                <a:ea typeface="Assistant Bold"/>
                <a:cs typeface="Assistant Bold"/>
                <a:sym typeface="Assistant Bold"/>
              </a:rPr>
              <a:t> horizontal</a:t>
            </a:r>
            <a:r>
              <a:rPr lang="en-US" sz="3217" dirty="0">
                <a:solidFill>
                  <a:srgbClr val="0D1C38"/>
                </a:solidFill>
                <a:latin typeface="Assistant"/>
                <a:ea typeface="Assistant"/>
                <a:cs typeface="Assistant"/>
                <a:sym typeface="Assistant"/>
              </a:rPr>
              <a:t> distances were recorded.</a:t>
            </a:r>
          </a:p>
          <a:p>
            <a:pPr marL="694683" lvl="1" indent="-347341" algn="just">
              <a:lnSpc>
                <a:spcPts val="3217"/>
              </a:lnSpc>
              <a:buFont typeface="Arial"/>
              <a:buChar char="•"/>
            </a:pPr>
            <a:r>
              <a:rPr lang="en-US" sz="3217" spc="-28" dirty="0">
                <a:solidFill>
                  <a:srgbClr val="0D1C38"/>
                </a:solidFill>
                <a:latin typeface="Assistant"/>
                <a:ea typeface="Assistant"/>
                <a:cs typeface="Assistant"/>
                <a:sym typeface="Assistant"/>
              </a:rPr>
              <a:t>Data was processed to compute </a:t>
            </a:r>
            <a:r>
              <a:rPr lang="en-US" sz="3217" b="1" spc="-28" dirty="0">
                <a:solidFill>
                  <a:srgbClr val="0D1C38"/>
                </a:solidFill>
                <a:latin typeface="Assistant Bold"/>
                <a:ea typeface="Assistant Bold"/>
                <a:cs typeface="Assistant Bold"/>
                <a:sym typeface="Assistant Bold"/>
              </a:rPr>
              <a:t>coordinates </a:t>
            </a:r>
            <a:r>
              <a:rPr lang="en-US" sz="3217" spc="-28" dirty="0">
                <a:solidFill>
                  <a:srgbClr val="0D1C38"/>
                </a:solidFill>
                <a:latin typeface="Assistant"/>
                <a:ea typeface="Assistant"/>
                <a:cs typeface="Assistant"/>
                <a:sym typeface="Assistant"/>
              </a:rPr>
              <a:t>and ensure </a:t>
            </a:r>
            <a:r>
              <a:rPr lang="en-US" sz="3217" b="1" spc="-28" dirty="0">
                <a:solidFill>
                  <a:srgbClr val="0D1C38"/>
                </a:solidFill>
                <a:latin typeface="Assistant Bold"/>
                <a:ea typeface="Assistant Bold"/>
                <a:cs typeface="Assistant Bold"/>
                <a:sym typeface="Assistant Bold"/>
              </a:rPr>
              <a:t>closing error </a:t>
            </a:r>
            <a:r>
              <a:rPr lang="en-US" sz="3217" spc="-28" dirty="0">
                <a:solidFill>
                  <a:srgbClr val="0D1C38"/>
                </a:solidFill>
                <a:latin typeface="Assistant"/>
                <a:ea typeface="Assistant"/>
                <a:cs typeface="Assistant"/>
                <a:sym typeface="Assistant"/>
              </a:rPr>
              <a:t>checks.</a:t>
            </a:r>
          </a:p>
          <a:p>
            <a:pPr algn="just">
              <a:lnSpc>
                <a:spcPts val="3217"/>
              </a:lnSpc>
            </a:pPr>
            <a:endParaRPr lang="en-US" sz="3217" spc="-28" dirty="0">
              <a:solidFill>
                <a:srgbClr val="0D1C38"/>
              </a:solidFill>
              <a:latin typeface="Assistant"/>
              <a:ea typeface="Assistant"/>
              <a:cs typeface="Assistant"/>
              <a:sym typeface="Assistant"/>
            </a:endParaRPr>
          </a:p>
          <a:p>
            <a:pPr algn="just">
              <a:lnSpc>
                <a:spcPts val="3217"/>
              </a:lnSpc>
            </a:pPr>
            <a:r>
              <a:rPr lang="en-US" sz="3217" b="1" dirty="0">
                <a:solidFill>
                  <a:srgbClr val="0D1C38"/>
                </a:solidFill>
                <a:latin typeface="Assistant Bold"/>
                <a:ea typeface="Assistant Bold"/>
                <a:cs typeface="Assistant Bold"/>
                <a:sym typeface="Assistant Bold"/>
              </a:rPr>
              <a:t>Outcome</a:t>
            </a:r>
            <a:r>
              <a:rPr lang="en-US" sz="3217" dirty="0">
                <a:solidFill>
                  <a:srgbClr val="0D1C38"/>
                </a:solidFill>
                <a:latin typeface="Assistant"/>
                <a:ea typeface="Assistant"/>
                <a:cs typeface="Assistant"/>
                <a:sym typeface="Assistant"/>
              </a:rPr>
              <a:t>:</a:t>
            </a:r>
          </a:p>
          <a:p>
            <a:pPr algn="just">
              <a:lnSpc>
                <a:spcPts val="3217"/>
              </a:lnSpc>
            </a:pPr>
            <a:r>
              <a:rPr lang="en-US" sz="3217" dirty="0">
                <a:solidFill>
                  <a:srgbClr val="0D1C38"/>
                </a:solidFill>
                <a:latin typeface="Assistant"/>
                <a:ea typeface="Assistant"/>
                <a:cs typeface="Assistant"/>
                <a:sym typeface="Assistant"/>
              </a:rPr>
              <a:t> An accurate traverse framework was established, forming the base for detailed feature plotting and contour generation.</a:t>
            </a:r>
          </a:p>
          <a:p>
            <a:pPr algn="just">
              <a:lnSpc>
                <a:spcPts val="3217"/>
              </a:lnSpc>
            </a:pPr>
            <a:endParaRPr lang="en-US" sz="3217" dirty="0">
              <a:solidFill>
                <a:srgbClr val="0D1C38"/>
              </a:solidFill>
              <a:latin typeface="Assistant"/>
              <a:ea typeface="Assistant"/>
              <a:cs typeface="Assistant"/>
              <a:sym typeface="Assistan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2170061" y="3052767"/>
            <a:ext cx="14919401" cy="5520178"/>
          </a:xfrm>
          <a:custGeom>
            <a:avLst/>
            <a:gdLst/>
            <a:ahLst/>
            <a:cxnLst/>
            <a:rect l="l" t="t" r="r" b="b"/>
            <a:pathLst>
              <a:path w="14919401" h="5520178">
                <a:moveTo>
                  <a:pt x="0" y="0"/>
                </a:moveTo>
                <a:lnTo>
                  <a:pt x="14919401" y="0"/>
                </a:lnTo>
                <a:lnTo>
                  <a:pt x="14919401" y="5520178"/>
                </a:lnTo>
                <a:lnTo>
                  <a:pt x="0" y="5520178"/>
                </a:lnTo>
                <a:lnTo>
                  <a:pt x="0" y="0"/>
                </a:lnTo>
                <a:close/>
              </a:path>
            </a:pathLst>
          </a:custGeom>
          <a:blipFill>
            <a:blip r:embed="rId7"/>
            <a:stretch>
              <a:fillRect/>
            </a:stretch>
          </a:blipFill>
        </p:spPr>
      </p:sp>
      <p:sp>
        <p:nvSpPr>
          <p:cNvPr id="10" name="TextBox 10"/>
          <p:cNvSpPr txBox="1"/>
          <p:nvPr/>
        </p:nvSpPr>
        <p:spPr>
          <a:xfrm>
            <a:off x="1992267" y="1692680"/>
            <a:ext cx="14151264" cy="1092205"/>
          </a:xfrm>
          <a:prstGeom prst="rect">
            <a:avLst/>
          </a:prstGeom>
        </p:spPr>
        <p:txBody>
          <a:bodyPr lIns="0" tIns="0" rIns="0" bIns="0" rtlCol="0" anchor="t">
            <a:spAutoFit/>
          </a:bodyPr>
          <a:lstStyle/>
          <a:p>
            <a:pPr algn="ctr">
              <a:lnSpc>
                <a:spcPts val="7600"/>
              </a:lnSpc>
            </a:pPr>
            <a:r>
              <a:rPr lang="en-US" sz="9500">
                <a:solidFill>
                  <a:srgbClr val="0E182F"/>
                </a:solidFill>
                <a:latin typeface="Roca One"/>
                <a:ea typeface="Roca One"/>
                <a:cs typeface="Roca One"/>
                <a:sym typeface="Roca One"/>
              </a:rPr>
              <a:t>Data Sheet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578633" y="2903045"/>
            <a:ext cx="15192447" cy="4462781"/>
          </a:xfrm>
          <a:custGeom>
            <a:avLst/>
            <a:gdLst/>
            <a:ahLst/>
            <a:cxnLst/>
            <a:rect l="l" t="t" r="r" b="b"/>
            <a:pathLst>
              <a:path w="15192447" h="4462781">
                <a:moveTo>
                  <a:pt x="0" y="0"/>
                </a:moveTo>
                <a:lnTo>
                  <a:pt x="15192448" y="0"/>
                </a:lnTo>
                <a:lnTo>
                  <a:pt x="15192448" y="4462781"/>
                </a:lnTo>
                <a:lnTo>
                  <a:pt x="0" y="4462781"/>
                </a:lnTo>
                <a:lnTo>
                  <a:pt x="0" y="0"/>
                </a:lnTo>
                <a:close/>
              </a:path>
            </a:pathLst>
          </a:custGeom>
          <a:blipFill>
            <a:blip r:embed="rId7"/>
            <a:stretch>
              <a:fillRect/>
            </a:stretch>
          </a:blipFill>
        </p:spPr>
      </p:sp>
      <p:sp>
        <p:nvSpPr>
          <p:cNvPr id="10" name="TextBox 10"/>
          <p:cNvSpPr txBox="1"/>
          <p:nvPr/>
        </p:nvSpPr>
        <p:spPr>
          <a:xfrm>
            <a:off x="1992267" y="1692680"/>
            <a:ext cx="14151264" cy="1092205"/>
          </a:xfrm>
          <a:prstGeom prst="rect">
            <a:avLst/>
          </a:prstGeom>
        </p:spPr>
        <p:txBody>
          <a:bodyPr lIns="0" tIns="0" rIns="0" bIns="0" rtlCol="0" anchor="t">
            <a:spAutoFit/>
          </a:bodyPr>
          <a:lstStyle/>
          <a:p>
            <a:pPr algn="ctr">
              <a:lnSpc>
                <a:spcPts val="7600"/>
              </a:lnSpc>
            </a:pPr>
            <a:r>
              <a:rPr lang="en-US" sz="9500">
                <a:solidFill>
                  <a:srgbClr val="0E182F"/>
                </a:solidFill>
                <a:latin typeface="Roca One"/>
                <a:ea typeface="Roca One"/>
                <a:cs typeface="Roca One"/>
                <a:sym typeface="Roca One"/>
              </a:rPr>
              <a:t>Data Sheet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992267" y="2718675"/>
            <a:ext cx="14231515" cy="4874294"/>
          </a:xfrm>
          <a:custGeom>
            <a:avLst/>
            <a:gdLst/>
            <a:ahLst/>
            <a:cxnLst/>
            <a:rect l="l" t="t" r="r" b="b"/>
            <a:pathLst>
              <a:path w="14231515" h="4874294">
                <a:moveTo>
                  <a:pt x="0" y="0"/>
                </a:moveTo>
                <a:lnTo>
                  <a:pt x="14231514" y="0"/>
                </a:lnTo>
                <a:lnTo>
                  <a:pt x="14231514" y="4874294"/>
                </a:lnTo>
                <a:lnTo>
                  <a:pt x="0" y="4874294"/>
                </a:lnTo>
                <a:lnTo>
                  <a:pt x="0" y="0"/>
                </a:lnTo>
                <a:close/>
              </a:path>
            </a:pathLst>
          </a:custGeom>
          <a:blipFill>
            <a:blip r:embed="rId7"/>
            <a:stretch>
              <a:fillRect/>
            </a:stretch>
          </a:blipFill>
        </p:spPr>
      </p:sp>
      <p:sp>
        <p:nvSpPr>
          <p:cNvPr id="10" name="TextBox 10"/>
          <p:cNvSpPr txBox="1"/>
          <p:nvPr/>
        </p:nvSpPr>
        <p:spPr>
          <a:xfrm>
            <a:off x="1992267" y="1692680"/>
            <a:ext cx="14151264" cy="1092205"/>
          </a:xfrm>
          <a:prstGeom prst="rect">
            <a:avLst/>
          </a:prstGeom>
        </p:spPr>
        <p:txBody>
          <a:bodyPr lIns="0" tIns="0" rIns="0" bIns="0" rtlCol="0" anchor="t">
            <a:spAutoFit/>
          </a:bodyPr>
          <a:lstStyle/>
          <a:p>
            <a:pPr algn="ctr">
              <a:lnSpc>
                <a:spcPts val="7600"/>
              </a:lnSpc>
            </a:pPr>
            <a:r>
              <a:rPr lang="en-US" sz="9500">
                <a:solidFill>
                  <a:srgbClr val="0E182F"/>
                </a:solidFill>
                <a:latin typeface="Roca One"/>
                <a:ea typeface="Roca One"/>
                <a:cs typeface="Roca One"/>
                <a:sym typeface="Roca One"/>
              </a:rPr>
              <a:t>Data Sheet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5006486" y="1326644"/>
            <a:ext cx="8378445" cy="7729115"/>
          </a:xfrm>
          <a:custGeom>
            <a:avLst/>
            <a:gdLst/>
            <a:ahLst/>
            <a:cxnLst/>
            <a:rect l="l" t="t" r="r" b="b"/>
            <a:pathLst>
              <a:path w="8378445" h="7729115">
                <a:moveTo>
                  <a:pt x="0" y="0"/>
                </a:moveTo>
                <a:lnTo>
                  <a:pt x="8378445" y="0"/>
                </a:lnTo>
                <a:lnTo>
                  <a:pt x="8378445" y="7729115"/>
                </a:lnTo>
                <a:lnTo>
                  <a:pt x="0" y="7729115"/>
                </a:lnTo>
                <a:lnTo>
                  <a:pt x="0" y="0"/>
                </a:lnTo>
                <a:close/>
              </a:path>
            </a:pathLst>
          </a:custGeom>
          <a:blipFill>
            <a:blip r:embed="rId7"/>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Feature Mapping</a:t>
            </a:r>
          </a:p>
        </p:txBody>
      </p:sp>
      <p:sp>
        <p:nvSpPr>
          <p:cNvPr id="10" name="TextBox 10"/>
          <p:cNvSpPr txBox="1"/>
          <p:nvPr/>
        </p:nvSpPr>
        <p:spPr>
          <a:xfrm>
            <a:off x="2282090" y="3278506"/>
            <a:ext cx="14664273" cy="5625277"/>
          </a:xfrm>
          <a:prstGeom prst="rect">
            <a:avLst/>
          </a:prstGeom>
        </p:spPr>
        <p:txBody>
          <a:bodyPr lIns="0" tIns="0" rIns="0" bIns="0" rtlCol="0" anchor="t">
            <a:spAutoFit/>
          </a:bodyPr>
          <a:lstStyle/>
          <a:p>
            <a:pPr algn="just">
              <a:lnSpc>
                <a:spcPts val="3217"/>
              </a:lnSpc>
            </a:pPr>
            <a:r>
              <a:rPr lang="en-US" sz="3217">
                <a:solidFill>
                  <a:srgbClr val="0D1C38"/>
                </a:solidFill>
                <a:latin typeface="Assistant"/>
                <a:ea typeface="Assistant"/>
                <a:cs typeface="Assistant"/>
                <a:sym typeface="Assistant"/>
              </a:rPr>
              <a:t>Feature mapping was conducted to record and locate all important details within the survey area.</a:t>
            </a:r>
          </a:p>
          <a:p>
            <a:pPr algn="just">
              <a:lnSpc>
                <a:spcPts val="3217"/>
              </a:lnSpc>
            </a:pPr>
            <a:endParaRPr lang="en-US" sz="3217">
              <a:solidFill>
                <a:srgbClr val="0D1C38"/>
              </a:solidFill>
              <a:latin typeface="Assistant"/>
              <a:ea typeface="Assistant"/>
              <a:cs typeface="Assistant"/>
              <a:sym typeface="Assistant"/>
            </a:endParaRPr>
          </a:p>
          <a:p>
            <a:pPr algn="just">
              <a:lnSpc>
                <a:spcPts val="3217"/>
              </a:lnSpc>
            </a:pPr>
            <a:r>
              <a:rPr lang="en-US" sz="3217" b="1">
                <a:solidFill>
                  <a:srgbClr val="0D1C38"/>
                </a:solidFill>
                <a:latin typeface="Assistant Bold"/>
                <a:ea typeface="Assistant Bold"/>
                <a:cs typeface="Assistant Bold"/>
                <a:sym typeface="Assistant Bold"/>
              </a:rPr>
              <a:t>Procedure:</a:t>
            </a:r>
          </a:p>
          <a:p>
            <a:pPr marL="694683" lvl="1" indent="-347341" algn="just">
              <a:lnSpc>
                <a:spcPts val="3217"/>
              </a:lnSpc>
              <a:buFont typeface="Arial"/>
              <a:buChar char="•"/>
            </a:pPr>
            <a:r>
              <a:rPr lang="en-US" sz="3217">
                <a:solidFill>
                  <a:srgbClr val="0D1C38"/>
                </a:solidFill>
                <a:latin typeface="Assistant"/>
                <a:ea typeface="Assistant"/>
                <a:cs typeface="Assistant"/>
                <a:sym typeface="Assistant"/>
              </a:rPr>
              <a:t>The </a:t>
            </a:r>
            <a:r>
              <a:rPr lang="en-US" sz="3217" b="1">
                <a:solidFill>
                  <a:srgbClr val="0D1C38"/>
                </a:solidFill>
                <a:latin typeface="Assistant Bold"/>
                <a:ea typeface="Assistant Bold"/>
                <a:cs typeface="Assistant Bold"/>
                <a:sym typeface="Assistant Bold"/>
              </a:rPr>
              <a:t>Total Station </a:t>
            </a:r>
            <a:r>
              <a:rPr lang="en-US" sz="3217">
                <a:solidFill>
                  <a:srgbClr val="0D1C38"/>
                </a:solidFill>
                <a:latin typeface="Assistant"/>
                <a:ea typeface="Assistant"/>
                <a:cs typeface="Assistant"/>
                <a:sym typeface="Assistant"/>
              </a:rPr>
              <a:t>was </a:t>
            </a:r>
            <a:r>
              <a:rPr lang="en-US" sz="3217" b="1">
                <a:solidFill>
                  <a:srgbClr val="0D1C38"/>
                </a:solidFill>
                <a:latin typeface="Assistant Bold"/>
                <a:ea typeface="Assistant Bold"/>
                <a:cs typeface="Assistant Bold"/>
                <a:sym typeface="Assistant Bold"/>
              </a:rPr>
              <a:t>centred and levelled </a:t>
            </a:r>
            <a:r>
              <a:rPr lang="en-US" sz="3217">
                <a:solidFill>
                  <a:srgbClr val="0D1C38"/>
                </a:solidFill>
                <a:latin typeface="Assistant"/>
                <a:ea typeface="Assistant"/>
                <a:cs typeface="Assistant"/>
                <a:sym typeface="Assistant"/>
              </a:rPr>
              <a:t>accurately at each station.</a:t>
            </a:r>
          </a:p>
          <a:p>
            <a:pPr marL="694683" lvl="1" indent="-347341" algn="just">
              <a:lnSpc>
                <a:spcPts val="3217"/>
              </a:lnSpc>
              <a:buFont typeface="Arial"/>
              <a:buChar char="•"/>
            </a:pPr>
            <a:r>
              <a:rPr lang="en-US" sz="3217">
                <a:solidFill>
                  <a:srgbClr val="0D1C38"/>
                </a:solidFill>
                <a:latin typeface="Assistant"/>
                <a:ea typeface="Assistant"/>
                <a:cs typeface="Assistant"/>
                <a:sym typeface="Assistant"/>
              </a:rPr>
              <a:t>Using a </a:t>
            </a:r>
            <a:r>
              <a:rPr lang="en-US" sz="3217" b="1">
                <a:solidFill>
                  <a:srgbClr val="0D1C38"/>
                </a:solidFill>
                <a:latin typeface="Assistant Bold"/>
                <a:ea typeface="Assistant Bold"/>
                <a:cs typeface="Assistant Bold"/>
                <a:sym typeface="Assistant Bold"/>
              </a:rPr>
              <a:t>bipod </a:t>
            </a:r>
            <a:r>
              <a:rPr lang="en-US" sz="3217">
                <a:solidFill>
                  <a:srgbClr val="0D1C38"/>
                </a:solidFill>
                <a:latin typeface="Assistant"/>
                <a:ea typeface="Assistant"/>
                <a:cs typeface="Assistant"/>
                <a:sym typeface="Assistant"/>
              </a:rPr>
              <a:t>and </a:t>
            </a:r>
            <a:r>
              <a:rPr lang="en-US" sz="3217" b="1">
                <a:solidFill>
                  <a:srgbClr val="0D1C38"/>
                </a:solidFill>
                <a:latin typeface="Assistant Bold"/>
                <a:ea typeface="Assistant Bold"/>
                <a:cs typeface="Assistant Bold"/>
                <a:sym typeface="Assistant Bold"/>
              </a:rPr>
              <a:t>prism</a:t>
            </a:r>
            <a:r>
              <a:rPr lang="en-US" sz="3217">
                <a:solidFill>
                  <a:srgbClr val="0D1C38"/>
                </a:solidFill>
                <a:latin typeface="Assistant"/>
                <a:ea typeface="Assistant"/>
                <a:cs typeface="Assistant"/>
                <a:sym typeface="Assistant"/>
              </a:rPr>
              <a:t>, we measured the coordinates of key features.</a:t>
            </a:r>
          </a:p>
          <a:p>
            <a:pPr marL="694683" lvl="1" indent="-347341" algn="just">
              <a:lnSpc>
                <a:spcPts val="3217"/>
              </a:lnSpc>
              <a:buFont typeface="Arial"/>
              <a:buChar char="•"/>
            </a:pPr>
            <a:r>
              <a:rPr lang="en-US" sz="3217">
                <a:solidFill>
                  <a:srgbClr val="0D1C38"/>
                </a:solidFill>
                <a:latin typeface="Assistant"/>
                <a:ea typeface="Assistant"/>
                <a:cs typeface="Assistant"/>
                <a:sym typeface="Assistant"/>
              </a:rPr>
              <a:t>Mapped features included</a:t>
            </a:r>
            <a:r>
              <a:rPr lang="en-US" sz="3217" b="1">
                <a:solidFill>
                  <a:srgbClr val="0D1C38"/>
                </a:solidFill>
                <a:latin typeface="Assistant Bold"/>
                <a:ea typeface="Assistant Bold"/>
                <a:cs typeface="Assistant Bold"/>
                <a:sym typeface="Assistant Bold"/>
              </a:rPr>
              <a:t> trees, roads, manholes, electric poles,</a:t>
            </a:r>
            <a:r>
              <a:rPr lang="en-US" sz="3217">
                <a:solidFill>
                  <a:srgbClr val="0D1C38"/>
                </a:solidFill>
                <a:latin typeface="Assistant"/>
                <a:ea typeface="Assistant"/>
                <a:cs typeface="Assistant"/>
                <a:sym typeface="Assistant"/>
              </a:rPr>
              <a:t> and </a:t>
            </a:r>
            <a:r>
              <a:rPr lang="en-US" sz="3217" b="1">
                <a:solidFill>
                  <a:srgbClr val="0D1C38"/>
                </a:solidFill>
                <a:latin typeface="Assistant Bold"/>
                <a:ea typeface="Assistant Bold"/>
                <a:cs typeface="Assistant Bold"/>
                <a:sym typeface="Assistant Bold"/>
              </a:rPr>
              <a:t>buildings.</a:t>
            </a:r>
          </a:p>
          <a:p>
            <a:pPr marL="694683" lvl="1" indent="-347341" algn="just">
              <a:lnSpc>
                <a:spcPts val="3217"/>
              </a:lnSpc>
              <a:buFont typeface="Arial"/>
              <a:buChar char="•"/>
            </a:pPr>
            <a:r>
              <a:rPr lang="en-US" sz="3217">
                <a:solidFill>
                  <a:srgbClr val="0D1C38"/>
                </a:solidFill>
                <a:latin typeface="Assistant"/>
                <a:ea typeface="Assistant"/>
                <a:cs typeface="Assistant"/>
                <a:sym typeface="Assistant"/>
              </a:rPr>
              <a:t>All observations were stored electronically for </a:t>
            </a:r>
            <a:r>
              <a:rPr lang="en-US" sz="3217" b="1">
                <a:solidFill>
                  <a:srgbClr val="0D1C38"/>
                </a:solidFill>
                <a:latin typeface="Assistant Bold"/>
                <a:ea typeface="Assistant Bold"/>
                <a:cs typeface="Assistant Bold"/>
                <a:sym typeface="Assistant Bold"/>
              </a:rPr>
              <a:t>processing and plotting</a:t>
            </a:r>
            <a:r>
              <a:rPr lang="en-US" sz="3217">
                <a:solidFill>
                  <a:srgbClr val="0D1C38"/>
                </a:solidFill>
                <a:latin typeface="Assistant"/>
                <a:ea typeface="Assistant"/>
                <a:cs typeface="Assistant"/>
                <a:sym typeface="Assistant"/>
              </a:rPr>
              <a:t> in mapping software.</a:t>
            </a:r>
          </a:p>
          <a:p>
            <a:pPr algn="just">
              <a:lnSpc>
                <a:spcPts val="3217"/>
              </a:lnSpc>
            </a:pPr>
            <a:endParaRPr lang="en-US" sz="3217">
              <a:solidFill>
                <a:srgbClr val="0D1C38"/>
              </a:solidFill>
              <a:latin typeface="Assistant"/>
              <a:ea typeface="Assistant"/>
              <a:cs typeface="Assistant"/>
              <a:sym typeface="Assistant"/>
            </a:endParaRPr>
          </a:p>
          <a:p>
            <a:pPr algn="just">
              <a:lnSpc>
                <a:spcPts val="3217"/>
              </a:lnSpc>
            </a:pPr>
            <a:r>
              <a:rPr lang="en-US" sz="3217" b="1">
                <a:solidFill>
                  <a:srgbClr val="0D1C38"/>
                </a:solidFill>
                <a:latin typeface="Assistant Bold"/>
                <a:ea typeface="Assistant Bold"/>
                <a:cs typeface="Assistant Bold"/>
                <a:sym typeface="Assistant Bold"/>
              </a:rPr>
              <a:t>Outcome:</a:t>
            </a:r>
          </a:p>
          <a:p>
            <a:pPr algn="just">
              <a:lnSpc>
                <a:spcPts val="3217"/>
              </a:lnSpc>
            </a:pPr>
            <a:r>
              <a:rPr lang="en-US" sz="3217">
                <a:solidFill>
                  <a:srgbClr val="0D1C38"/>
                </a:solidFill>
                <a:latin typeface="Assistant"/>
                <a:ea typeface="Assistant"/>
                <a:cs typeface="Assistant"/>
                <a:sym typeface="Assistant"/>
              </a:rPr>
              <a:t>A detailed topographic map was generated, showing both natural and man-made features with high positional accuracy.</a:t>
            </a:r>
          </a:p>
          <a:p>
            <a:pPr algn="just">
              <a:lnSpc>
                <a:spcPts val="3217"/>
              </a:lnSpc>
            </a:pPr>
            <a:endParaRPr lang="en-US" sz="3217">
              <a:solidFill>
                <a:srgbClr val="0D1C38"/>
              </a:solidFill>
              <a:latin typeface="Assistant"/>
              <a:ea typeface="Assistant"/>
              <a:cs typeface="Assistant"/>
              <a:sym typeface="Assistan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199833" y="156678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Creation of Map </a:t>
            </a:r>
          </a:p>
        </p:txBody>
      </p:sp>
      <p:sp>
        <p:nvSpPr>
          <p:cNvPr id="10" name="TextBox 10"/>
          <p:cNvSpPr txBox="1"/>
          <p:nvPr/>
        </p:nvSpPr>
        <p:spPr>
          <a:xfrm>
            <a:off x="2243964" y="2716138"/>
            <a:ext cx="14600728" cy="6571927"/>
          </a:xfrm>
          <a:prstGeom prst="rect">
            <a:avLst/>
          </a:prstGeom>
        </p:spPr>
        <p:txBody>
          <a:bodyPr lIns="0" tIns="0" rIns="0" bIns="0" rtlCol="0" anchor="t">
            <a:spAutoFit/>
          </a:bodyPr>
          <a:lstStyle/>
          <a:p>
            <a:pPr algn="just">
              <a:lnSpc>
                <a:spcPts val="3217"/>
              </a:lnSpc>
            </a:pPr>
            <a:r>
              <a:rPr lang="en-US" sz="3217" dirty="0">
                <a:solidFill>
                  <a:srgbClr val="0D1C38"/>
                </a:solidFill>
                <a:latin typeface="Assistant"/>
                <a:ea typeface="Assistant"/>
                <a:cs typeface="Assistant"/>
                <a:sym typeface="Assistant"/>
              </a:rPr>
              <a:t>Finally map is created on QGIS Software</a:t>
            </a:r>
          </a:p>
          <a:p>
            <a:pPr algn="just">
              <a:lnSpc>
                <a:spcPts val="3217"/>
              </a:lnSpc>
            </a:pPr>
            <a:endParaRPr lang="en-US" sz="3217" dirty="0">
              <a:solidFill>
                <a:srgbClr val="0D1C38"/>
              </a:solidFill>
              <a:latin typeface="Assistant"/>
              <a:ea typeface="Assistant"/>
              <a:cs typeface="Assistant"/>
              <a:sym typeface="Assistant"/>
            </a:endParaRPr>
          </a:p>
          <a:p>
            <a:pPr algn="just">
              <a:lnSpc>
                <a:spcPts val="3217"/>
              </a:lnSpc>
            </a:pPr>
            <a:r>
              <a:rPr lang="en-US" sz="3217" b="1" dirty="0">
                <a:solidFill>
                  <a:srgbClr val="0D1C38"/>
                </a:solidFill>
                <a:latin typeface="Assistant Bold"/>
                <a:ea typeface="Assistant Bold"/>
                <a:cs typeface="Assistant Bold"/>
                <a:sym typeface="Assistant Bold"/>
              </a:rPr>
              <a:t>Procedure</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The survey observations collected using the Total Station were first exported and organized.</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The collected point data was imported into QGIS software.</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Separate vector layers (point, line, and polygon) were created to represent different features on the map.</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Each feature was assigned proper symbology and labels (e.g., buildings, water tanks, roads, trees, electric poles, manholes).</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Contour lines were added to represent elevation differences across the site.</a:t>
            </a:r>
          </a:p>
          <a:p>
            <a:pPr marL="694683" lvl="1" indent="-347341" algn="just">
              <a:lnSpc>
                <a:spcPts val="3217"/>
              </a:lnSpc>
              <a:buFont typeface="Arial"/>
              <a:buChar char="•"/>
            </a:pPr>
            <a:r>
              <a:rPr lang="en-US" sz="3217" dirty="0">
                <a:solidFill>
                  <a:srgbClr val="0D1C38"/>
                </a:solidFill>
                <a:latin typeface="Assistant"/>
                <a:ea typeface="Assistant"/>
                <a:cs typeface="Assistant"/>
                <a:sym typeface="Assistant"/>
              </a:rPr>
              <a:t>The Layout Manager was used to design the final map.</a:t>
            </a:r>
          </a:p>
          <a:p>
            <a:pPr algn="just">
              <a:lnSpc>
                <a:spcPts val="3217"/>
              </a:lnSpc>
            </a:pPr>
            <a:endParaRPr lang="en-US" sz="3217" dirty="0">
              <a:solidFill>
                <a:srgbClr val="0D1C38"/>
              </a:solidFill>
              <a:latin typeface="Assistant"/>
              <a:ea typeface="Assistant"/>
              <a:cs typeface="Assistant"/>
              <a:sym typeface="Assistant"/>
            </a:endParaRPr>
          </a:p>
          <a:p>
            <a:pPr algn="just">
              <a:lnSpc>
                <a:spcPts val="3217"/>
              </a:lnSpc>
            </a:pPr>
            <a:r>
              <a:rPr lang="en-US" sz="3217" b="1" dirty="0">
                <a:solidFill>
                  <a:srgbClr val="0D1C38"/>
                </a:solidFill>
                <a:latin typeface="Assistant Bold"/>
                <a:ea typeface="Assistant Bold"/>
                <a:cs typeface="Assistant Bold"/>
                <a:sym typeface="Assistant Bold"/>
              </a:rPr>
              <a:t>Outcome:</a:t>
            </a:r>
          </a:p>
          <a:p>
            <a:pPr algn="just">
              <a:lnSpc>
                <a:spcPts val="3217"/>
              </a:lnSpc>
            </a:pPr>
            <a:r>
              <a:rPr lang="en-US" sz="3217" dirty="0">
                <a:solidFill>
                  <a:srgbClr val="0D1C38"/>
                </a:solidFill>
                <a:latin typeface="Assistant"/>
                <a:ea typeface="Assistant"/>
                <a:cs typeface="Assistant"/>
                <a:sym typeface="Assistant"/>
              </a:rPr>
              <a:t>A clear and accurate topographic map of the GI Lab and ACES Building area was successfully generated using QGIS.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3200399" y="1028700"/>
            <a:ext cx="11430001"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rot="-10800000">
            <a:off x="6049771" y="9635668"/>
            <a:ext cx="6036256" cy="3303478"/>
          </a:xfrm>
          <a:custGeom>
            <a:avLst/>
            <a:gdLst/>
            <a:ahLst/>
            <a:cxnLst/>
            <a:rect l="l" t="t" r="r" b="b"/>
            <a:pathLst>
              <a:path w="6036256" h="3303478">
                <a:moveTo>
                  <a:pt x="0" y="0"/>
                </a:moveTo>
                <a:lnTo>
                  <a:pt x="6036256" y="0"/>
                </a:lnTo>
                <a:lnTo>
                  <a:pt x="6036256" y="3303478"/>
                </a:lnTo>
                <a:lnTo>
                  <a:pt x="0" y="33034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3410492" y="1233826"/>
            <a:ext cx="11079756" cy="7811228"/>
          </a:xfrm>
          <a:custGeom>
            <a:avLst/>
            <a:gdLst/>
            <a:ahLst/>
            <a:cxnLst/>
            <a:rect l="l" t="t" r="r" b="b"/>
            <a:pathLst>
              <a:path w="11079756" h="7811228">
                <a:moveTo>
                  <a:pt x="0" y="0"/>
                </a:moveTo>
                <a:lnTo>
                  <a:pt x="11079756" y="0"/>
                </a:lnTo>
                <a:lnTo>
                  <a:pt x="11079756" y="7811228"/>
                </a:lnTo>
                <a:lnTo>
                  <a:pt x="0" y="7811228"/>
                </a:lnTo>
                <a:lnTo>
                  <a:pt x="0" y="0"/>
                </a:lnTo>
                <a:close/>
              </a:path>
            </a:pathLst>
          </a:custGeom>
          <a:blipFill>
            <a:blip r:embed="rId5"/>
            <a:stretch>
              <a:fillRect/>
            </a:stretch>
          </a:blipFill>
        </p:spPr>
      </p:sp>
      <p:sp>
        <p:nvSpPr>
          <p:cNvPr id="8" name="TextBox 8"/>
          <p:cNvSpPr txBox="1"/>
          <p:nvPr/>
        </p:nvSpPr>
        <p:spPr>
          <a:xfrm>
            <a:off x="6049771" y="323850"/>
            <a:ext cx="5259087" cy="965218"/>
          </a:xfrm>
          <a:prstGeom prst="rect">
            <a:avLst/>
          </a:prstGeom>
        </p:spPr>
        <p:txBody>
          <a:bodyPr lIns="0" tIns="0" rIns="0" bIns="0" rtlCol="0" anchor="t">
            <a:spAutoFit/>
          </a:bodyPr>
          <a:lstStyle/>
          <a:p>
            <a:pPr algn="ctr">
              <a:lnSpc>
                <a:spcPts val="6800"/>
              </a:lnSpc>
            </a:pPr>
            <a:r>
              <a:rPr lang="en-US" sz="8500">
                <a:solidFill>
                  <a:srgbClr val="0E182F"/>
                </a:solidFill>
                <a:latin typeface="Roca One"/>
                <a:ea typeface="Roca One"/>
                <a:cs typeface="Roca One"/>
                <a:sym typeface="Roca One"/>
              </a:rPr>
              <a:t>Final Map </a:t>
            </a:r>
          </a:p>
        </p:txBody>
      </p:sp>
      <p:sp>
        <p:nvSpPr>
          <p:cNvPr id="9" name="Freeform 9"/>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Conclusion</a:t>
            </a:r>
          </a:p>
        </p:txBody>
      </p:sp>
      <p:sp>
        <p:nvSpPr>
          <p:cNvPr id="10" name="TextBox 10"/>
          <p:cNvSpPr txBox="1"/>
          <p:nvPr/>
        </p:nvSpPr>
        <p:spPr>
          <a:xfrm>
            <a:off x="2282090" y="2987585"/>
            <a:ext cx="13723820" cy="5809283"/>
          </a:xfrm>
          <a:prstGeom prst="rect">
            <a:avLst/>
          </a:prstGeom>
        </p:spPr>
        <p:txBody>
          <a:bodyPr lIns="0" tIns="0" rIns="0" bIns="0" rtlCol="0" anchor="t">
            <a:spAutoFit/>
          </a:bodyPr>
          <a:lstStyle/>
          <a:p>
            <a:pPr algn="just">
              <a:lnSpc>
                <a:spcPts val="3117"/>
              </a:lnSpc>
            </a:pPr>
            <a:r>
              <a:rPr lang="en-US" sz="3117" b="1" dirty="0">
                <a:solidFill>
                  <a:srgbClr val="0D1C38"/>
                </a:solidFill>
                <a:latin typeface="Assistant Bold"/>
                <a:ea typeface="Assistant Bold"/>
                <a:cs typeface="Assistant Bold"/>
                <a:sym typeface="Assistant Bold"/>
              </a:rPr>
              <a:t>Key Takeaways</a:t>
            </a:r>
          </a:p>
          <a:p>
            <a:pPr marL="651504" lvl="1" indent="-325752" algn="just">
              <a:lnSpc>
                <a:spcPts val="3017"/>
              </a:lnSpc>
              <a:buFont typeface="Arial"/>
              <a:buChar char="•"/>
            </a:pPr>
            <a:r>
              <a:rPr lang="en-US" sz="3017" b="1" dirty="0">
                <a:solidFill>
                  <a:srgbClr val="0D1C38"/>
                </a:solidFill>
                <a:latin typeface="Assistant Bold"/>
                <a:ea typeface="Assistant Bold"/>
                <a:cs typeface="Assistant Bold"/>
                <a:sym typeface="Assistant Bold"/>
              </a:rPr>
              <a:t>Result</a:t>
            </a:r>
            <a:r>
              <a:rPr lang="en-US" sz="3017" dirty="0">
                <a:solidFill>
                  <a:srgbClr val="0D1C38"/>
                </a:solidFill>
                <a:latin typeface="Assistant"/>
                <a:ea typeface="Assistant"/>
                <a:cs typeface="Assistant"/>
                <a:sym typeface="Assistant"/>
              </a:rPr>
              <a:t>: A detailed map of the GI Lab, ACES Building, and their surrounding areas.</a:t>
            </a:r>
          </a:p>
          <a:p>
            <a:pPr algn="just">
              <a:lnSpc>
                <a:spcPts val="3017"/>
              </a:lnSpc>
            </a:pPr>
            <a:endParaRPr lang="en-US" sz="3017" dirty="0">
              <a:solidFill>
                <a:srgbClr val="0D1C38"/>
              </a:solidFill>
              <a:latin typeface="Assistant"/>
              <a:ea typeface="Assistant"/>
              <a:cs typeface="Assistant"/>
              <a:sym typeface="Assistant"/>
            </a:endParaRPr>
          </a:p>
          <a:p>
            <a:pPr marL="651504" lvl="1" indent="-325752" algn="just">
              <a:lnSpc>
                <a:spcPts val="3017"/>
              </a:lnSpc>
              <a:buFont typeface="Arial"/>
              <a:buChar char="•"/>
            </a:pPr>
            <a:r>
              <a:rPr lang="en-US" sz="3017" dirty="0">
                <a:solidFill>
                  <a:srgbClr val="0D1C38"/>
                </a:solidFill>
                <a:latin typeface="Assistant"/>
                <a:ea typeface="Assistant"/>
                <a:cs typeface="Assistant"/>
                <a:sym typeface="Assistant"/>
              </a:rPr>
              <a:t>Gained</a:t>
            </a:r>
            <a:r>
              <a:rPr lang="en-US" sz="3017" b="1" dirty="0">
                <a:solidFill>
                  <a:srgbClr val="0D1C38"/>
                </a:solidFill>
                <a:latin typeface="Assistant Bold"/>
                <a:ea typeface="Assistant Bold"/>
                <a:cs typeface="Assistant Bold"/>
                <a:sym typeface="Assistant Bold"/>
              </a:rPr>
              <a:t> practical experience </a:t>
            </a:r>
            <a:r>
              <a:rPr lang="en-US" sz="3017" dirty="0">
                <a:solidFill>
                  <a:srgbClr val="0D1C38"/>
                </a:solidFill>
                <a:latin typeface="Assistant"/>
                <a:ea typeface="Assistant"/>
                <a:cs typeface="Assistant"/>
                <a:sym typeface="Assistant"/>
              </a:rPr>
              <a:t>in:</a:t>
            </a:r>
          </a:p>
          <a:p>
            <a:pPr marL="1303007" lvl="2" indent="-434336" algn="just">
              <a:lnSpc>
                <a:spcPts val="3017"/>
              </a:lnSpc>
              <a:buFont typeface="Arial"/>
              <a:buChar char="⚬"/>
            </a:pPr>
            <a:r>
              <a:rPr lang="en-US" sz="3017" dirty="0">
                <a:solidFill>
                  <a:srgbClr val="0D1C38"/>
                </a:solidFill>
                <a:latin typeface="Assistant"/>
                <a:ea typeface="Assistant"/>
                <a:cs typeface="Assistant"/>
                <a:sym typeface="Assistant"/>
              </a:rPr>
              <a:t>Setting up and operating surveying instruments.</a:t>
            </a:r>
          </a:p>
          <a:p>
            <a:pPr marL="1303007" lvl="2" indent="-434336" algn="just">
              <a:lnSpc>
                <a:spcPts val="3017"/>
              </a:lnSpc>
              <a:buFont typeface="Arial"/>
              <a:buChar char="⚬"/>
            </a:pPr>
            <a:r>
              <a:rPr lang="en-US" sz="3017" dirty="0">
                <a:solidFill>
                  <a:srgbClr val="0D1C38"/>
                </a:solidFill>
                <a:latin typeface="Assistant"/>
                <a:ea typeface="Assistant"/>
                <a:cs typeface="Assistant"/>
                <a:sym typeface="Assistant"/>
              </a:rPr>
              <a:t>Recording and processing field observations.</a:t>
            </a:r>
          </a:p>
          <a:p>
            <a:pPr marL="1303007" lvl="2" indent="-434336" algn="just">
              <a:lnSpc>
                <a:spcPts val="3017"/>
              </a:lnSpc>
              <a:buFont typeface="Arial"/>
              <a:buChar char="⚬"/>
            </a:pPr>
            <a:r>
              <a:rPr lang="en-US" sz="3017" dirty="0">
                <a:solidFill>
                  <a:srgbClr val="0D1C38"/>
                </a:solidFill>
                <a:latin typeface="Assistant"/>
                <a:ea typeface="Assistant"/>
                <a:cs typeface="Assistant"/>
                <a:sym typeface="Assistant"/>
              </a:rPr>
              <a:t>Handling real-world constraints in data collection.</a:t>
            </a:r>
          </a:p>
          <a:p>
            <a:pPr marL="1303007" lvl="2" indent="-434336" algn="just">
              <a:lnSpc>
                <a:spcPts val="3017"/>
              </a:lnSpc>
              <a:buFont typeface="Arial"/>
              <a:buChar char="⚬"/>
            </a:pPr>
            <a:r>
              <a:rPr lang="en-US" sz="3017" dirty="0">
                <a:solidFill>
                  <a:srgbClr val="0D1C38"/>
                </a:solidFill>
                <a:latin typeface="Assistant"/>
                <a:ea typeface="Assistant"/>
                <a:cs typeface="Assistant"/>
                <a:sym typeface="Assistant"/>
              </a:rPr>
              <a:t>Understanding the complete survey-to-map workflow.</a:t>
            </a:r>
          </a:p>
          <a:p>
            <a:pPr algn="just">
              <a:lnSpc>
                <a:spcPts val="3017"/>
              </a:lnSpc>
            </a:pPr>
            <a:endParaRPr lang="en-US" sz="3017" dirty="0">
              <a:solidFill>
                <a:srgbClr val="0D1C38"/>
              </a:solidFill>
              <a:latin typeface="Assistant"/>
              <a:ea typeface="Assistant"/>
              <a:cs typeface="Assistant"/>
              <a:sym typeface="Assistant"/>
            </a:endParaRPr>
          </a:p>
          <a:p>
            <a:pPr algn="just">
              <a:lnSpc>
                <a:spcPts val="3017"/>
              </a:lnSpc>
            </a:pPr>
            <a:r>
              <a:rPr lang="en-US" sz="3017" b="1" dirty="0">
                <a:solidFill>
                  <a:srgbClr val="0D1C38"/>
                </a:solidFill>
                <a:latin typeface="Assistant Bold"/>
                <a:ea typeface="Assistant Bold"/>
                <a:cs typeface="Assistant Bold"/>
                <a:sym typeface="Assistant Bold"/>
              </a:rPr>
              <a:t>Challenges Encountered</a:t>
            </a:r>
          </a:p>
          <a:p>
            <a:pPr marL="651504" lvl="1" indent="-325752" algn="just">
              <a:lnSpc>
                <a:spcPts val="3017"/>
              </a:lnSpc>
              <a:buFont typeface="Arial"/>
              <a:buChar char="•"/>
            </a:pPr>
            <a:r>
              <a:rPr lang="en-US" sz="3017" dirty="0">
                <a:solidFill>
                  <a:srgbClr val="0D1C38"/>
                </a:solidFill>
                <a:latin typeface="Assistant"/>
                <a:ea typeface="Assistant"/>
                <a:cs typeface="Assistant"/>
                <a:sym typeface="Assistant"/>
              </a:rPr>
              <a:t>In lab 2 </a:t>
            </a:r>
            <a:r>
              <a:rPr lang="en-US" sz="3017" b="1" dirty="0">
                <a:solidFill>
                  <a:srgbClr val="0D1C38"/>
                </a:solidFill>
                <a:latin typeface="Assistant Bold"/>
                <a:ea typeface="Assistant Bold"/>
                <a:cs typeface="Assistant Bold"/>
                <a:sym typeface="Assistant Bold"/>
              </a:rPr>
              <a:t>Control points</a:t>
            </a:r>
            <a:r>
              <a:rPr lang="en-US" sz="3017" dirty="0">
                <a:solidFill>
                  <a:srgbClr val="0D1C38"/>
                </a:solidFill>
                <a:latin typeface="Assistant"/>
                <a:ea typeface="Assistant"/>
                <a:cs typeface="Assistant"/>
                <a:sym typeface="Assistant"/>
              </a:rPr>
              <a:t> (CPs) were </a:t>
            </a:r>
            <a:r>
              <a:rPr lang="en-US" sz="3017" b="1" dirty="0">
                <a:solidFill>
                  <a:srgbClr val="0D1C38"/>
                </a:solidFill>
                <a:latin typeface="Assistant Bold"/>
                <a:ea typeface="Assistant Bold"/>
                <a:cs typeface="Assistant Bold"/>
                <a:sym typeface="Assistant Bold"/>
              </a:rPr>
              <a:t>erased</a:t>
            </a:r>
            <a:r>
              <a:rPr lang="en-US" sz="3017" dirty="0">
                <a:solidFill>
                  <a:srgbClr val="0D1C38"/>
                </a:solidFill>
                <a:latin typeface="Assistant"/>
                <a:ea typeface="Assistant"/>
                <a:cs typeface="Assistant"/>
                <a:sym typeface="Assistant"/>
              </a:rPr>
              <a:t> due to rain and vehicle movement.</a:t>
            </a:r>
          </a:p>
          <a:p>
            <a:pPr marL="651504" lvl="1" indent="-325752" algn="just">
              <a:lnSpc>
                <a:spcPts val="3017"/>
              </a:lnSpc>
              <a:buFont typeface="Arial"/>
              <a:buChar char="•"/>
            </a:pPr>
            <a:r>
              <a:rPr lang="en-US" sz="3017" dirty="0">
                <a:solidFill>
                  <a:srgbClr val="0D1C38"/>
                </a:solidFill>
                <a:latin typeface="Assistant"/>
                <a:ea typeface="Assistant"/>
                <a:cs typeface="Assistant"/>
                <a:sym typeface="Assistant"/>
              </a:rPr>
              <a:t>Difficulty in</a:t>
            </a:r>
            <a:r>
              <a:rPr lang="en-US" sz="3017" b="1" dirty="0">
                <a:solidFill>
                  <a:srgbClr val="0D1C38"/>
                </a:solidFill>
                <a:latin typeface="Assistant Bold"/>
                <a:ea typeface="Assistant Bold"/>
                <a:cs typeface="Assistant Bold"/>
                <a:sym typeface="Assistant Bold"/>
              </a:rPr>
              <a:t> </a:t>
            </a:r>
            <a:r>
              <a:rPr lang="en-US" sz="3017" b="1" dirty="0" err="1">
                <a:solidFill>
                  <a:srgbClr val="0D1C38"/>
                </a:solidFill>
                <a:latin typeface="Assistant Bold"/>
                <a:ea typeface="Assistant Bold"/>
                <a:cs typeface="Assistant Bold"/>
                <a:sym typeface="Assistant Bold"/>
              </a:rPr>
              <a:t>centring</a:t>
            </a:r>
            <a:r>
              <a:rPr lang="en-US" sz="3017" b="1" dirty="0">
                <a:solidFill>
                  <a:srgbClr val="0D1C38"/>
                </a:solidFill>
                <a:latin typeface="Assistant Bold"/>
                <a:ea typeface="Assistant Bold"/>
                <a:cs typeface="Assistant Bold"/>
                <a:sym typeface="Assistant Bold"/>
              </a:rPr>
              <a:t> and levelling</a:t>
            </a:r>
            <a:r>
              <a:rPr lang="en-US" sz="3017" dirty="0">
                <a:solidFill>
                  <a:srgbClr val="0D1C38"/>
                </a:solidFill>
                <a:latin typeface="Assistant"/>
                <a:ea typeface="Assistant"/>
                <a:cs typeface="Assistant"/>
                <a:sym typeface="Assistant"/>
              </a:rPr>
              <a:t> at one CP because of </a:t>
            </a:r>
            <a:r>
              <a:rPr lang="en-US" sz="3017" b="1" dirty="0">
                <a:solidFill>
                  <a:srgbClr val="0D1C38"/>
                </a:solidFill>
                <a:latin typeface="Assistant Bold"/>
                <a:ea typeface="Assistant Bold"/>
                <a:cs typeface="Assistant Bold"/>
                <a:sym typeface="Assistant Bold"/>
              </a:rPr>
              <a:t>loose soil </a:t>
            </a:r>
            <a:r>
              <a:rPr lang="en-US" sz="3017" dirty="0">
                <a:solidFill>
                  <a:srgbClr val="0D1C38"/>
                </a:solidFill>
                <a:latin typeface="Assistant"/>
                <a:ea typeface="Assistant"/>
                <a:cs typeface="Assistant"/>
                <a:sym typeface="Assistant"/>
              </a:rPr>
              <a:t>conditions.</a:t>
            </a:r>
          </a:p>
          <a:p>
            <a:pPr marL="651504" lvl="1" indent="-325752" algn="just">
              <a:lnSpc>
                <a:spcPts val="3017"/>
              </a:lnSpc>
              <a:buFont typeface="Arial"/>
              <a:buChar char="•"/>
            </a:pPr>
            <a:r>
              <a:rPr lang="en-US" sz="3017" b="1" dirty="0">
                <a:solidFill>
                  <a:srgbClr val="0D1C38"/>
                </a:solidFill>
                <a:latin typeface="Assistant Bold"/>
                <a:ea typeface="Assistant Bold"/>
                <a:cs typeface="Assistant Bold"/>
                <a:sym typeface="Assistant Bold"/>
              </a:rPr>
              <a:t>Vehicles parked</a:t>
            </a:r>
            <a:r>
              <a:rPr lang="en-US" sz="3017" dirty="0">
                <a:solidFill>
                  <a:srgbClr val="0D1C38"/>
                </a:solidFill>
                <a:latin typeface="Assistant"/>
                <a:ea typeface="Assistant"/>
                <a:cs typeface="Assistant"/>
                <a:sym typeface="Assistant"/>
              </a:rPr>
              <a:t> at control points interrupted </a:t>
            </a:r>
            <a:r>
              <a:rPr lang="en-US" sz="3017" b="1" dirty="0">
                <a:solidFill>
                  <a:srgbClr val="0D1C38"/>
                </a:solidFill>
                <a:latin typeface="Assistant Bold"/>
                <a:ea typeface="Assistant Bold"/>
                <a:cs typeface="Assistant Bold"/>
                <a:sym typeface="Assistant Bold"/>
              </a:rPr>
              <a:t>traversing and levelling.</a:t>
            </a:r>
            <a:endParaRPr lang="en-US" sz="3017" dirty="0">
              <a:solidFill>
                <a:srgbClr val="0D1C38"/>
              </a:solidFill>
              <a:latin typeface="Assistant"/>
              <a:ea typeface="Assistant"/>
              <a:cs typeface="Assistant"/>
              <a:sym typeface="Assistant"/>
            </a:endParaRPr>
          </a:p>
          <a:p>
            <a:pPr marL="651504" lvl="1" indent="-325752" algn="just">
              <a:lnSpc>
                <a:spcPts val="3017"/>
              </a:lnSpc>
              <a:buFont typeface="Arial"/>
              <a:buChar char="•"/>
            </a:pPr>
            <a:r>
              <a:rPr lang="en-US" sz="3017" b="1" dirty="0">
                <a:solidFill>
                  <a:srgbClr val="0D1C38"/>
                </a:solidFill>
                <a:latin typeface="Assistant"/>
                <a:ea typeface="Assistant"/>
                <a:cs typeface="Assistant"/>
                <a:sym typeface="Assistant"/>
              </a:rPr>
              <a:t>Vehicle movement </a:t>
            </a:r>
            <a:r>
              <a:rPr lang="en-US" sz="3017" dirty="0">
                <a:solidFill>
                  <a:srgbClr val="0D1C38"/>
                </a:solidFill>
                <a:latin typeface="Assistant"/>
                <a:ea typeface="Assistant"/>
                <a:cs typeface="Assistant"/>
                <a:sym typeface="Assistant"/>
              </a:rPr>
              <a:t>interrupts the reading of total station.</a:t>
            </a:r>
          </a:p>
          <a:p>
            <a:pPr algn="just">
              <a:lnSpc>
                <a:spcPts val="3217"/>
              </a:lnSpc>
            </a:pPr>
            <a:endParaRPr lang="en-US" sz="3017" dirty="0">
              <a:solidFill>
                <a:srgbClr val="0D1C38"/>
              </a:solidFill>
              <a:latin typeface="Assistant"/>
              <a:ea typeface="Assistant"/>
              <a:cs typeface="Assistant"/>
              <a:sym typeface="Assistan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6" name="Group 6"/>
          <p:cNvGrpSpPr/>
          <p:nvPr/>
        </p:nvGrpSpPr>
        <p:grpSpPr>
          <a:xfrm rot="-10800000">
            <a:off x="12385899" y="-2268953"/>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3813536" y="2814094"/>
            <a:ext cx="9733360" cy="4687618"/>
          </a:xfrm>
          <a:prstGeom prst="rect">
            <a:avLst/>
          </a:prstGeom>
        </p:spPr>
        <p:txBody>
          <a:bodyPr lIns="0" tIns="0" rIns="0" bIns="0" rtlCol="0" anchor="t">
            <a:spAutoFit/>
          </a:bodyPr>
          <a:lstStyle/>
          <a:p>
            <a:pPr algn="ctr">
              <a:lnSpc>
                <a:spcPts val="18328"/>
              </a:lnSpc>
            </a:pPr>
            <a:r>
              <a:rPr lang="en-US" sz="16219">
                <a:solidFill>
                  <a:srgbClr val="0D1C38"/>
                </a:solidFill>
                <a:latin typeface="Roca One"/>
                <a:ea typeface="Roca One"/>
                <a:cs typeface="Roca One"/>
                <a:sym typeface="Roca One"/>
              </a:rPr>
              <a:t>THANK YOU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3E4E4"/>
        </a:solidFill>
        <a:effectLst/>
      </p:bgPr>
    </p:bg>
    <p:spTree>
      <p:nvGrpSpPr>
        <p:cNvPr id="1" name=""/>
        <p:cNvGrpSpPr/>
        <p:nvPr/>
      </p:nvGrpSpPr>
      <p:grpSpPr>
        <a:xfrm>
          <a:off x="0" y="0"/>
          <a:ext cx="0" cy="0"/>
          <a:chOff x="0" y="0"/>
          <a:chExt cx="0" cy="0"/>
        </a:xfrm>
      </p:grpSpPr>
      <p:sp>
        <p:nvSpPr>
          <p:cNvPr id="2" name="TextBox 2"/>
          <p:cNvSpPr txBox="1"/>
          <p:nvPr/>
        </p:nvSpPr>
        <p:spPr>
          <a:xfrm>
            <a:off x="1199833" y="1681163"/>
            <a:ext cx="15110213" cy="1092205"/>
          </a:xfrm>
          <a:prstGeom prst="rect">
            <a:avLst/>
          </a:prstGeom>
        </p:spPr>
        <p:txBody>
          <a:bodyPr lIns="0" tIns="0" rIns="0" bIns="0" rtlCol="0" anchor="t">
            <a:spAutoFit/>
          </a:bodyPr>
          <a:lstStyle/>
          <a:p>
            <a:pPr algn="ctr">
              <a:lnSpc>
                <a:spcPts val="7600"/>
              </a:lnSpc>
            </a:pPr>
            <a:r>
              <a:rPr lang="en-US" sz="9500">
                <a:solidFill>
                  <a:srgbClr val="0D1C38"/>
                </a:solidFill>
                <a:latin typeface="Roca One"/>
                <a:ea typeface="Roca One"/>
                <a:cs typeface="Roca One"/>
                <a:sym typeface="Roca One"/>
              </a:rPr>
              <a:t>Referencing</a:t>
            </a:r>
          </a:p>
        </p:txBody>
      </p:sp>
      <p:sp>
        <p:nvSpPr>
          <p:cNvPr id="3" name="TextBox 3"/>
          <p:cNvSpPr txBox="1"/>
          <p:nvPr/>
        </p:nvSpPr>
        <p:spPr>
          <a:xfrm>
            <a:off x="3180680" y="4364039"/>
            <a:ext cx="11926639" cy="4206280"/>
          </a:xfrm>
          <a:prstGeom prst="rect">
            <a:avLst/>
          </a:prstGeom>
        </p:spPr>
        <p:txBody>
          <a:bodyPr lIns="0" tIns="0" rIns="0" bIns="0" rtlCol="0" anchor="t">
            <a:spAutoFit/>
          </a:bodyPr>
          <a:lstStyle/>
          <a:p>
            <a:pPr algn="ctr">
              <a:lnSpc>
                <a:spcPts val="4059"/>
              </a:lnSpc>
              <a:spcBef>
                <a:spcPct val="0"/>
              </a:spcBef>
            </a:pPr>
            <a:r>
              <a:rPr lang="en-US" sz="2899" dirty="0">
                <a:solidFill>
                  <a:srgbClr val="0D1C38"/>
                </a:solidFill>
                <a:latin typeface="Roca One"/>
                <a:ea typeface="Roca One"/>
                <a:cs typeface="Roca One"/>
                <a:sym typeface="Roca One"/>
              </a:rPr>
              <a:t> All the references used in preparing this ppt. are as follows: </a:t>
            </a:r>
          </a:p>
          <a:p>
            <a:pPr marL="626106" lvl="1" indent="-313053" algn="l">
              <a:lnSpc>
                <a:spcPts val="4059"/>
              </a:lnSpc>
              <a:buFont typeface="Arial"/>
              <a:buChar char="•"/>
            </a:pPr>
            <a:r>
              <a:rPr lang="en-US" sz="2899" dirty="0">
                <a:solidFill>
                  <a:srgbClr val="0D1C38"/>
                </a:solidFill>
                <a:latin typeface="Roca One"/>
                <a:ea typeface="Roca One"/>
                <a:cs typeface="Roca One"/>
                <a:sym typeface="Roca One"/>
              </a:rPr>
              <a:t>maps.google.com </a:t>
            </a:r>
          </a:p>
          <a:p>
            <a:pPr marL="626106" lvl="1" indent="-313053" algn="l">
              <a:lnSpc>
                <a:spcPts val="4059"/>
              </a:lnSpc>
              <a:buFont typeface="Arial"/>
              <a:buChar char="•"/>
            </a:pPr>
            <a:r>
              <a:rPr lang="en-US" sz="2899" dirty="0">
                <a:solidFill>
                  <a:srgbClr val="0D1C38"/>
                </a:solidFill>
                <a:latin typeface="Roca One"/>
                <a:ea typeface="Roca One"/>
                <a:cs typeface="Roca One"/>
                <a:sym typeface="Roca One"/>
              </a:rPr>
              <a:t>Lab reports of CE331</a:t>
            </a:r>
          </a:p>
          <a:p>
            <a:pPr marL="626106" lvl="1" indent="-313053" algn="l">
              <a:lnSpc>
                <a:spcPts val="4059"/>
              </a:lnSpc>
              <a:buFont typeface="Arial"/>
              <a:buChar char="•"/>
            </a:pPr>
            <a:r>
              <a:rPr lang="en-US" sz="2899" dirty="0">
                <a:solidFill>
                  <a:srgbClr val="0D1C38"/>
                </a:solidFill>
                <a:latin typeface="Roca One"/>
                <a:ea typeface="Roca One"/>
                <a:cs typeface="Roca One"/>
                <a:sym typeface="Roca One"/>
              </a:rPr>
              <a:t> QGIS software for map making. </a:t>
            </a:r>
          </a:p>
          <a:p>
            <a:pPr marL="626106" lvl="1" indent="-313053" algn="l">
              <a:lnSpc>
                <a:spcPts val="4059"/>
              </a:lnSpc>
              <a:buFont typeface="Arial"/>
              <a:buChar char="•"/>
            </a:pPr>
            <a:r>
              <a:rPr lang="en-US" sz="2899" dirty="0">
                <a:solidFill>
                  <a:srgbClr val="0D1C38"/>
                </a:solidFill>
                <a:latin typeface="Roca One"/>
                <a:ea typeface="Roca One"/>
                <a:cs typeface="Roca One"/>
                <a:sym typeface="Roca One"/>
              </a:rPr>
              <a:t> Lecture notes by Professor Salil Goel.</a:t>
            </a:r>
          </a:p>
          <a:p>
            <a:pPr marL="626106" lvl="1" indent="-313053" algn="l">
              <a:lnSpc>
                <a:spcPts val="4059"/>
              </a:lnSpc>
              <a:buFont typeface="Arial"/>
              <a:buChar char="•"/>
            </a:pPr>
            <a:endParaRPr lang="en-US" sz="2899" dirty="0">
              <a:solidFill>
                <a:srgbClr val="0D1C38"/>
              </a:solidFill>
              <a:latin typeface="Roca One"/>
              <a:ea typeface="Roca One"/>
              <a:cs typeface="Roca One"/>
              <a:sym typeface="Roca One"/>
            </a:endParaRPr>
          </a:p>
          <a:p>
            <a:pPr algn="ctr">
              <a:lnSpc>
                <a:spcPts val="4059"/>
              </a:lnSpc>
              <a:spcBef>
                <a:spcPct val="0"/>
              </a:spcBef>
            </a:pPr>
            <a:endParaRPr lang="en-US" sz="2899" dirty="0">
              <a:solidFill>
                <a:srgbClr val="0D1C38"/>
              </a:solidFill>
              <a:latin typeface="Roca One"/>
              <a:ea typeface="Roca One"/>
              <a:cs typeface="Roca One"/>
              <a:sym typeface="Roca One"/>
            </a:endParaRPr>
          </a:p>
          <a:p>
            <a:pPr algn="ctr">
              <a:lnSpc>
                <a:spcPts val="4059"/>
              </a:lnSpc>
              <a:spcBef>
                <a:spcPct val="0"/>
              </a:spcBef>
            </a:pPr>
            <a:endParaRPr lang="en-US" sz="2899" dirty="0">
              <a:solidFill>
                <a:srgbClr val="0D1C38"/>
              </a:solidFill>
              <a:latin typeface="Roca One"/>
              <a:ea typeface="Roca One"/>
              <a:cs typeface="Roca One"/>
              <a:sym typeface="Roca On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1114</Words>
  <Application>Microsoft Office PowerPoint</Application>
  <PresentationFormat>Custom</PresentationFormat>
  <Paragraphs>165</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Wingdings</vt:lpstr>
      <vt:lpstr>Times New Roman</vt:lpstr>
      <vt:lpstr>Arial</vt:lpstr>
      <vt:lpstr>Assistant</vt:lpstr>
      <vt:lpstr>Assistant Bold</vt:lpstr>
      <vt:lpstr>Calibri</vt:lpstr>
      <vt:lpstr>Roca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CE331_PPT_GROUP_7_TUESDAY</dc:title>
  <cp:lastModifiedBy>Subhankar Sutradhar</cp:lastModifiedBy>
  <cp:revision>3</cp:revision>
  <dcterms:created xsi:type="dcterms:W3CDTF">2006-08-16T00:00:00Z</dcterms:created>
  <dcterms:modified xsi:type="dcterms:W3CDTF">2025-11-09T22:53:37Z</dcterms:modified>
  <dc:identifier>DAG4LYuclAs</dc:identifier>
</cp:coreProperties>
</file>